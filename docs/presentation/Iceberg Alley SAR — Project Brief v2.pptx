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9"/>
    <p:sldId id="269" r:id="rId2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portfolio project: hands-on SAR and maritime-domain work, from raw Sentinel-1 scenes to a validated detector and a CesiumJS viewer. Fifteen years of photogrammetry and geospatial AI, applied to a new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of interest: the northeast Newfoundland coast, roughly Bonavista to St. Anthony, extending offshore. April to June has the most icebergs.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and 5 (orange) are the detector itself. Each detection keeps its incidence angle, contrast, size and distance to pack ice as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subtlety worth mentioning: HyP3 removes the HV thermal noise floor, so open-water HV sits at -30 to -40 dB with ENL below 1. A textbook ENL would set the threshold far too low, so ENL is estimated from each scene. Detection runs on linear power; dB is for display and reported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HH check matters at 10 m: IW GRD is oversampled (true resolution about 20 m), so HV speckle grains span about 2x2 pixels and pass the size filter. Real targets are bright in both polarizations. Thin strips of loose sea ice were the main false-alarm source until the structure-length filter. The vertical brightness steps in the image are the three IW sub-swaths.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Vue 3, Vite and CesiumJS. At startup the viewer reads a manifest and loads one CZML file per scene and detector, so no scene names are hardcoded. `cli.py publish` writes the data, and a push to main deploys it with GitHub Actions. Esri imagery basemap, so no Cesium ion token is needed. Nothing is deleted: near-ice candidates are greyed out and can be hidden with a checkbox. Live: natali-kovalski.github.io/iceberg-alley-sar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uses spring 2019 because the IIP sightings database (NSIDC G00807) ends with the 2021 season. Same pipeline, same parameters as the 2025 scenes. Matching is one-to-one within 500 m. IIP positions are truncated to 0.1 arc-minute; moving them to the cell centre cut the median offset from 137 m to 67 m without changing recall. Caveat: the analysts looked at the same radar image, so this measures agreement with expert interpretation, not independent truth.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large bergs are 30+ dB above the sea in HV, so the CFAR threshold fires on them. But each grown blob measures 340–470 m, above the 300 m ice-strip rule (max_structure_m), so the filter throws them away. THOR has no such rule and finds most of them (next slides). Small bergs that are a single 10 m pixel in HV are removed by the 2-pixel minimum.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NAIS charts are partly modelled and include growlers too small for SAR. Inshore, SAR finds 3 to 8 times the chart count; offshore on rough days it finds fewer. Sentinel-2 in April showed up to 37,800 bright objects per tile, mostly ice floes, so optical cannot separate small bergs from floes at 10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39% (207 of 531) is a lower bound on precision, not an estimate. The unlabelled detections are strong targets, similar in size to matched ones. On its own, THOR fires on pack ice: 34–82% of its peaks on icy frames fall inside the CFAR's ice mask. An experimental iceberg-vs-ship CNN trained on the Kaggle Statoil/C-CORE chips exists, but it is mostly unsure on our data and is used only as a review hint.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run searches ASF, keeps the best-covering HH+HV scenes, orders HyP3 RTC processing (60 credits per 10 m scene), then masks, detects and exports CZML. Masking plus detection takes about 17 minutes per 10 m scene on a laptop. THOR inference needs a GPU: 8–15 minutes per scene on a laptop RTX 3070.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has the full write-up: method, validation findings and limitations, plus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Forgaard et al., 'Efficient iceberg detection in Sentinel-1 imagery using the THOR foundation model', IGARSS 2026. HyP3 gives gamma0, so it is converted to sigma0 with the incidence angle and normalized with THOR's dB statistics. At 8x8 patches a token covers 80 m. A CenterNet-style head was tried too; it matched but never beat the linear head on the 2019/2020 year folds, so the linear head is the main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held-out April 2019 frames with same-pass IIP labels (512 bergs), identical masks and 500 m matching. Precision can't be measured without AIS, so the comparison is recall at a matched number of detections: the CFAR is swept over PFA, THOR over its score, and both are read at the CFAR's count at PFA 1e-6. Nothing was tuned on these frames. THOR leads on every frame (by 0 to 15 points) and matches the CFAR's recall with about 28% fewer detections. Caveat: one month of one year, and THOR learned from IIP analyst labels.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natali-kovalski/iceberg-alley-sar"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p:bgPr>
    </p:bg>
    <p:spTree>
      <p:nvGrpSpPr>
        <p:cNvPr id="1" name=""/>
        <p:cNvGrpSpPr/>
        <p:nvPr/>
      </p:nvGrpSpPr>
      <p:grpSpPr>
        <a:xfrm>
          <a:off x="0" y="0"/>
          <a:ext cx="0" cy="0"/>
          <a:chOff x="0" y="0"/>
          <a:chExt cx="0" cy="0"/>
        </a:xfrm>
      </p:grpSpPr>
      <p:pic>
        <p:nvPicPr>
          <p:cNvPr id="2" name="Image 0" descr="Cesium viewer showing iceberg candidates off northeast Newfoundland">    </p:cNvPr>
          <p:cNvPicPr>
            <a:picLocks noChangeAspect="1"/>
          </p:cNvPicPr>
          <p:nvPr/>
        </p:nvPicPr>
        <p:blipFill>
          <a:blip r:embed="rId1"/>
          <a:srcRect l="26042" r="26042" t="0" b="0"/>
          <a:stretch/>
        </p:blipFill>
        <p:spPr>
          <a:xfrm>
            <a:off x="6350000" y="0"/>
            <a:ext cx="5842000" cy="6858000"/>
          </a:xfrm>
          <a:prstGeom prst="rect">
            <a:avLst/>
          </a:prstGeom>
        </p:spPr>
      </p:pic>
      <p:sp>
        <p:nvSpPr>
          <p:cNvPr id="3" name="Shape 0"/>
          <p:cNvSpPr/>
          <p:nvPr/>
        </p:nvSpPr>
        <p:spPr>
          <a:xfrm>
            <a:off x="6350000" y="0"/>
            <a:ext cx="1524000" cy="6858000"/>
          </a:xfrm>
          <a:prstGeom prst="rect">
            <a:avLst/>
          </a:prstGeom>
          <a:gradFill rotWithShape="1">
            <a:gsLst>
              <a:gs pos="0">
                <a:srgbClr val="0E2233"/>
              </a:gs>
              <a:gs pos="100000">
                <a:srgbClr val="0E2233">
                  <a:alpha val="0"/>
                </a:srgbClr>
              </a:gs>
            </a:gsLst>
            <a:lin ang="0" scaled="0"/>
          </a:gradFill>
          <a:ln/>
        </p:spPr>
      </p:sp>
      <p:sp>
        <p:nvSpPr>
          <p:cNvPr id="4" name="Text 1"/>
          <p:cNvSpPr/>
          <p:nvPr/>
        </p:nvSpPr>
        <p:spPr>
          <a:xfrm>
            <a:off x="812782" y="1668949"/>
            <a:ext cx="523240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PROJECT BRIEF · SENTINEL-1 SAR</a:t>
            </a:r>
            <a:endParaRPr lang="en-US" sz="1200" dirty="0"/>
          </a:p>
        </p:txBody>
      </p:sp>
      <p:sp>
        <p:nvSpPr>
          <p:cNvPr id="5" name="Text 2"/>
          <p:cNvSpPr/>
          <p:nvPr>
            <p:ph type="title"/>
          </p:nvPr>
        </p:nvSpPr>
        <p:spPr>
          <a:xfrm>
            <a:off x="812782" y="2085488"/>
            <a:ext cx="5232400"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Iceberg Alley SAR</a:t>
            </a:r>
            <a:endParaRPr lang="en-US" sz="6000" dirty="0"/>
          </a:p>
        </p:txBody>
      </p:sp>
      <p:sp>
        <p:nvSpPr>
          <p:cNvPr id="6" name="Text 3"/>
          <p:cNvSpPr/>
          <p:nvPr/>
        </p:nvSpPr>
        <p:spPr>
          <a:xfrm>
            <a:off x="812782" y="3888744"/>
            <a:ext cx="5232400" cy="909168"/>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DB"/>
                </a:solidFill>
                <a:latin typeface="IBM Plex Sans" pitchFamily="34" charset="0"/>
                <a:ea typeface="IBM Plex Sans" pitchFamily="34" charset="-122"/>
                <a:cs typeface="IBM Plex Sans" pitchFamily="34" charset="-120"/>
              </a:rPr>
              <a:t>Detecting icebergs off Newfoundland in satellite radar with a classical detector and a foundation model, shown on a live interactive globe.</a:t>
            </a:r>
            <a:endParaRPr lang="en-US" sz="1600" dirty="0"/>
          </a:p>
        </p:txBody>
      </p:sp>
      <p:sp>
        <p:nvSpPr>
          <p:cNvPr id="7" name="Text 4"/>
          <p:cNvSpPr/>
          <p:nvPr/>
        </p:nvSpPr>
        <p:spPr>
          <a:xfrm>
            <a:off x="812782" y="4975640"/>
            <a:ext cx="52324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B"/>
                </a:solidFill>
                <a:latin typeface="IBM Plex Sans" pitchFamily="34" charset="0"/>
                <a:ea typeface="IBM Plex Sans" pitchFamily="34" charset="-122"/>
                <a:cs typeface="IBM Plex Sans" pitchFamily="34" charset="-120"/>
              </a:rPr>
              <a:t>Natali Kovalski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spring, icebergs drift into busy water</a:t>
            </a:r>
            <a:endParaRPr lang="en-US" sz="3600" dirty="0"/>
          </a:p>
        </p:txBody>
      </p:sp>
      <p:sp>
        <p:nvSpPr>
          <p:cNvPr id="4" name="Shape 2"/>
          <p:cNvSpPr/>
          <p:nvPr/>
        </p:nvSpPr>
        <p:spPr>
          <a:xfrm>
            <a:off x="815957" y="1938572"/>
            <a:ext cx="3380347" cy="3900253"/>
          </a:xfrm>
          <a:prstGeom prst="roundRect">
            <a:avLst>
              <a:gd name="adj" fmla="val 2912"/>
            </a:avLst>
          </a:prstGeom>
          <a:solidFill>
            <a:srgbClr val="FBFCFA"/>
          </a:solidFill>
          <a:ln w="6350">
            <a:solidFill>
              <a:srgbClr val="D5DEE0"/>
            </a:solidFill>
            <a:prstDash val="solid"/>
          </a:ln>
        </p:spPr>
      </p:sp>
      <p:sp>
        <p:nvSpPr>
          <p:cNvPr id="5" name="Text 3"/>
          <p:cNvSpPr/>
          <p:nvPr/>
        </p:nvSpPr>
        <p:spPr>
          <a:xfrm>
            <a:off x="1123337"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23337"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hazard</a:t>
            </a:r>
            <a:endParaRPr lang="en-US" sz="2200" dirty="0"/>
          </a:p>
        </p:txBody>
      </p:sp>
      <p:sp>
        <p:nvSpPr>
          <p:cNvPr id="7" name="Text 5"/>
          <p:cNvSpPr/>
          <p:nvPr/>
        </p:nvSpPr>
        <p:spPr>
          <a:xfrm>
            <a:off x="1123337" y="3048631"/>
            <a:ext cx="2848555" cy="144783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Greenland bergs ride the Labrador Current down "Iceberg Alley", past shipping lanes, fishing grounds and offshore platforms.</a:t>
            </a:r>
            <a:endParaRPr lang="en-US" sz="1600" dirty="0"/>
          </a:p>
        </p:txBody>
      </p:sp>
      <p:sp>
        <p:nvSpPr>
          <p:cNvPr id="8" name="Shape 6"/>
          <p:cNvSpPr/>
          <p:nvPr/>
        </p:nvSpPr>
        <p:spPr>
          <a:xfrm>
            <a:off x="4405781" y="1938572"/>
            <a:ext cx="3380437" cy="3900253"/>
          </a:xfrm>
          <a:prstGeom prst="roundRect">
            <a:avLst>
              <a:gd name="adj" fmla="val 2912"/>
            </a:avLst>
          </a:prstGeom>
          <a:solidFill>
            <a:srgbClr val="FBFCFA"/>
          </a:solidFill>
          <a:ln w="6350">
            <a:solidFill>
              <a:srgbClr val="D5DEE0"/>
            </a:solidFill>
            <a:prstDash val="solid"/>
          </a:ln>
        </p:spPr>
      </p:sp>
      <p:sp>
        <p:nvSpPr>
          <p:cNvPr id="9" name="Text 7"/>
          <p:cNvSpPr/>
          <p:nvPr/>
        </p:nvSpPr>
        <p:spPr>
          <a:xfrm>
            <a:off x="4713161" y="2245951"/>
            <a:ext cx="2848648"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13161" y="2586362"/>
            <a:ext cx="2848648"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gap</a:t>
            </a:r>
            <a:endParaRPr lang="en-US" sz="2200" dirty="0"/>
          </a:p>
        </p:txBody>
      </p:sp>
      <p:sp>
        <p:nvSpPr>
          <p:cNvPr id="11" name="Text 9"/>
          <p:cNvSpPr/>
          <p:nvPr/>
        </p:nvSpPr>
        <p:spPr>
          <a:xfrm>
            <a:off x="4713161" y="3048631"/>
            <a:ext cx="2848648"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Aircraft reconnaissance is costly and limited by weather, and this coast is often fogged in.</a:t>
            </a:r>
            <a:endParaRPr lang="en-US" sz="1600" dirty="0"/>
          </a:p>
        </p:txBody>
      </p:sp>
      <p:sp>
        <p:nvSpPr>
          <p:cNvPr id="12" name="Shape 10"/>
          <p:cNvSpPr/>
          <p:nvPr/>
        </p:nvSpPr>
        <p:spPr>
          <a:xfrm>
            <a:off x="7995696" y="1938572"/>
            <a:ext cx="3380347" cy="3900253"/>
          </a:xfrm>
          <a:prstGeom prst="roundRect">
            <a:avLst>
              <a:gd name="adj" fmla="val 2912"/>
            </a:avLst>
          </a:prstGeom>
          <a:solidFill>
            <a:srgbClr val="FBFCFA"/>
          </a:solidFill>
          <a:ln w="6350">
            <a:solidFill>
              <a:srgbClr val="D5DEE0"/>
            </a:solidFill>
            <a:prstDash val="solid"/>
          </a:ln>
        </p:spPr>
      </p:sp>
      <p:sp>
        <p:nvSpPr>
          <p:cNvPr id="13" name="Text 11"/>
          <p:cNvSpPr/>
          <p:nvPr/>
        </p:nvSpPr>
        <p:spPr>
          <a:xfrm>
            <a:off x="8303075"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03075"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idea</a:t>
            </a:r>
            <a:endParaRPr lang="en-US" sz="2200" dirty="0"/>
          </a:p>
        </p:txBody>
      </p:sp>
      <p:sp>
        <p:nvSpPr>
          <p:cNvPr id="15" name="Text 13"/>
          <p:cNvSpPr/>
          <p:nvPr/>
        </p:nvSpPr>
        <p:spPr>
          <a:xfrm>
            <a:off x="8303075" y="3048631"/>
            <a:ext cx="2848555"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Satellite radar sees through cloud and darkness. Sentinel-1 data is free and revisits every few days.</a:t>
            </a:r>
            <a:endParaRPr lang="en-US" sz="1600" dirty="0"/>
          </a:p>
        </p:txBody>
      </p:sp>
      <p:sp>
        <p:nvSpPr>
          <p:cNvPr id="16" name="Text 1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7" name="Text 1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APPROACH</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Six steps from raw scene to globe</a:t>
            </a:r>
            <a:endParaRPr lang="en-US" sz="3600" dirty="0"/>
          </a:p>
        </p:txBody>
      </p:sp>
      <p:sp>
        <p:nvSpPr>
          <p:cNvPr id="4" name="Shape 2"/>
          <p:cNvSpPr/>
          <p:nvPr/>
        </p:nvSpPr>
        <p:spPr>
          <a:xfrm>
            <a:off x="815957" y="1938572"/>
            <a:ext cx="1670086" cy="3310984"/>
          </a:xfrm>
          <a:prstGeom prst="roundRect">
            <a:avLst>
              <a:gd name="adj" fmla="val 4373"/>
            </a:avLst>
          </a:prstGeom>
          <a:solidFill>
            <a:srgbClr val="FBFCFA"/>
          </a:solidFill>
          <a:ln w="6350">
            <a:solidFill>
              <a:srgbClr val="D5DEE0"/>
            </a:solidFill>
            <a:prstDash val="solid"/>
          </a:ln>
        </p:spPr>
      </p:sp>
      <p:sp>
        <p:nvSpPr>
          <p:cNvPr id="5" name="Text 3"/>
          <p:cNvSpPr/>
          <p:nvPr/>
        </p:nvSpPr>
        <p:spPr>
          <a:xfrm>
            <a:off x="1021683"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21683"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Search</a:t>
            </a:r>
            <a:endParaRPr lang="en-US" sz="1600" dirty="0"/>
          </a:p>
        </p:txBody>
      </p:sp>
      <p:sp>
        <p:nvSpPr>
          <p:cNvPr id="7" name="Text 5"/>
          <p:cNvSpPr/>
          <p:nvPr/>
        </p:nvSpPr>
        <p:spPr>
          <a:xfrm>
            <a:off x="1021683" y="2804643"/>
            <a:ext cx="1309435"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ASF search for HH+HV scenes over the AOI</a:t>
            </a:r>
            <a:endParaRPr lang="en-US" sz="1200" dirty="0"/>
          </a:p>
        </p:txBody>
      </p:sp>
      <p:sp>
        <p:nvSpPr>
          <p:cNvPr id="8" name="Shape 6"/>
          <p:cNvSpPr/>
          <p:nvPr/>
        </p:nvSpPr>
        <p:spPr>
          <a:xfrm>
            <a:off x="2593957" y="1938572"/>
            <a:ext cx="1670086" cy="3310984"/>
          </a:xfrm>
          <a:prstGeom prst="roundRect">
            <a:avLst>
              <a:gd name="adj" fmla="val 4373"/>
            </a:avLst>
          </a:prstGeom>
          <a:solidFill>
            <a:srgbClr val="FBFCFA"/>
          </a:solidFill>
          <a:ln w="6350">
            <a:solidFill>
              <a:srgbClr val="D5DEE0"/>
            </a:solidFill>
            <a:prstDash val="solid"/>
          </a:ln>
        </p:spPr>
      </p:sp>
      <p:sp>
        <p:nvSpPr>
          <p:cNvPr id="9" name="Text 7"/>
          <p:cNvSpPr/>
          <p:nvPr/>
        </p:nvSpPr>
        <p:spPr>
          <a:xfrm>
            <a:off x="2799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2799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Calibrate</a:t>
            </a:r>
            <a:endParaRPr lang="en-US" sz="1600" dirty="0"/>
          </a:p>
        </p:txBody>
      </p:sp>
      <p:sp>
        <p:nvSpPr>
          <p:cNvPr id="11" name="Text 9"/>
          <p:cNvSpPr/>
          <p:nvPr/>
        </p:nvSpPr>
        <p:spPr>
          <a:xfrm>
            <a:off x="2799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HyP3 terrain correction: gamma0, linear power, 10 m</a:t>
            </a:r>
            <a:endParaRPr lang="en-US" sz="1200" dirty="0"/>
          </a:p>
        </p:txBody>
      </p:sp>
      <p:sp>
        <p:nvSpPr>
          <p:cNvPr id="12" name="Shape 10"/>
          <p:cNvSpPr/>
          <p:nvPr/>
        </p:nvSpPr>
        <p:spPr>
          <a:xfrm>
            <a:off x="4371957" y="1938572"/>
            <a:ext cx="1670086" cy="3310984"/>
          </a:xfrm>
          <a:prstGeom prst="roundRect">
            <a:avLst>
              <a:gd name="adj" fmla="val 4373"/>
            </a:avLst>
          </a:prstGeom>
          <a:solidFill>
            <a:srgbClr val="FBFCFA"/>
          </a:solidFill>
          <a:ln w="6350">
            <a:solidFill>
              <a:srgbClr val="D5DEE0"/>
            </a:solidFill>
            <a:prstDash val="solid"/>
          </a:ln>
        </p:spPr>
      </p:sp>
      <p:sp>
        <p:nvSpPr>
          <p:cNvPr id="13" name="Text 11"/>
          <p:cNvSpPr/>
          <p:nvPr/>
        </p:nvSpPr>
        <p:spPr>
          <a:xfrm>
            <a:off x="4577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4577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Mask</a:t>
            </a:r>
            <a:endParaRPr lang="en-US" sz="1600" dirty="0"/>
          </a:p>
        </p:txBody>
      </p:sp>
      <p:sp>
        <p:nvSpPr>
          <p:cNvPr id="15" name="Text 13"/>
          <p:cNvSpPr/>
          <p:nvPr/>
        </p:nvSpPr>
        <p:spPr>
          <a:xfrm>
            <a:off x="4577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Land plus 500 m from OSM; pack ice from HV texture</a:t>
            </a:r>
            <a:endParaRPr lang="en-US" sz="1200" dirty="0"/>
          </a:p>
        </p:txBody>
      </p:sp>
      <p:sp>
        <p:nvSpPr>
          <p:cNvPr id="16" name="Shape 14"/>
          <p:cNvSpPr/>
          <p:nvPr/>
        </p:nvSpPr>
        <p:spPr>
          <a:xfrm>
            <a:off x="6149957" y="1938572"/>
            <a:ext cx="1670086" cy="3310984"/>
          </a:xfrm>
          <a:prstGeom prst="roundRect">
            <a:avLst>
              <a:gd name="adj" fmla="val 4373"/>
            </a:avLst>
          </a:prstGeom>
          <a:solidFill>
            <a:srgbClr val="FBFCFA"/>
          </a:solidFill>
          <a:ln w="6350">
            <a:solidFill>
              <a:srgbClr val="D5DEE0"/>
            </a:solidFill>
            <a:prstDash val="solid"/>
          </a:ln>
        </p:spPr>
      </p:sp>
      <p:sp>
        <p:nvSpPr>
          <p:cNvPr id="17" name="Text 15"/>
          <p:cNvSpPr/>
          <p:nvPr/>
        </p:nvSpPr>
        <p:spPr>
          <a:xfrm>
            <a:off x="6355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6355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Detect</a:t>
            </a:r>
            <a:endParaRPr lang="en-US" sz="1600" dirty="0"/>
          </a:p>
        </p:txBody>
      </p:sp>
      <p:sp>
        <p:nvSpPr>
          <p:cNvPr id="19" name="Text 17"/>
          <p:cNvSpPr/>
          <p:nvPr/>
        </p:nvSpPr>
        <p:spPr>
          <a:xfrm>
            <a:off x="6355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CA-CFAR on HV, threshold set from the scene's speckle</a:t>
            </a:r>
            <a:endParaRPr lang="en-US" sz="1200" dirty="0"/>
          </a:p>
        </p:txBody>
      </p:sp>
      <p:sp>
        <p:nvSpPr>
          <p:cNvPr id="20" name="Shape 18"/>
          <p:cNvSpPr/>
          <p:nvPr/>
        </p:nvSpPr>
        <p:spPr>
          <a:xfrm>
            <a:off x="7927956" y="1938572"/>
            <a:ext cx="1670086" cy="3310984"/>
          </a:xfrm>
          <a:prstGeom prst="roundRect">
            <a:avLst>
              <a:gd name="adj" fmla="val 4373"/>
            </a:avLst>
          </a:prstGeom>
          <a:solidFill>
            <a:srgbClr val="FBFCFA"/>
          </a:solidFill>
          <a:ln w="6350">
            <a:solidFill>
              <a:srgbClr val="D5DEE0"/>
            </a:solidFill>
            <a:prstDash val="solid"/>
          </a:ln>
        </p:spPr>
      </p:sp>
      <p:sp>
        <p:nvSpPr>
          <p:cNvPr id="21" name="Text 19"/>
          <p:cNvSpPr/>
          <p:nvPr/>
        </p:nvSpPr>
        <p:spPr>
          <a:xfrm>
            <a:off x="8133683"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05</a:t>
            </a:r>
            <a:endParaRPr lang="en-US" sz="1200" dirty="0"/>
          </a:p>
        </p:txBody>
      </p:sp>
      <p:sp>
        <p:nvSpPr>
          <p:cNvPr id="22" name="Text 20"/>
          <p:cNvSpPr/>
          <p:nvPr/>
        </p:nvSpPr>
        <p:spPr>
          <a:xfrm>
            <a:off x="8133683"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Filter</a:t>
            </a:r>
            <a:endParaRPr lang="en-US" sz="1600" dirty="0"/>
          </a:p>
        </p:txBody>
      </p:sp>
      <p:sp>
        <p:nvSpPr>
          <p:cNvPr id="23" name="Text 21"/>
          <p:cNvSpPr/>
          <p:nvPr/>
        </p:nvSpPr>
        <p:spPr>
          <a:xfrm>
            <a:off x="8133683" y="2804643"/>
            <a:ext cx="1309435"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Size limits, ice-strip rejection, HH co-pol check</a:t>
            </a:r>
            <a:endParaRPr lang="en-US" sz="1200" dirty="0"/>
          </a:p>
        </p:txBody>
      </p:sp>
      <p:sp>
        <p:nvSpPr>
          <p:cNvPr id="24" name="Shape 22"/>
          <p:cNvSpPr/>
          <p:nvPr/>
        </p:nvSpPr>
        <p:spPr>
          <a:xfrm>
            <a:off x="9705956" y="1938572"/>
            <a:ext cx="1670086" cy="3310984"/>
          </a:xfrm>
          <a:prstGeom prst="roundRect">
            <a:avLst>
              <a:gd name="adj" fmla="val 4373"/>
            </a:avLst>
          </a:prstGeom>
          <a:solidFill>
            <a:srgbClr val="FBFCFA"/>
          </a:solidFill>
          <a:ln w="6350">
            <a:solidFill>
              <a:srgbClr val="D5DEE0"/>
            </a:solidFill>
            <a:prstDash val="solid"/>
          </a:ln>
        </p:spPr>
      </p:sp>
      <p:sp>
        <p:nvSpPr>
          <p:cNvPr id="25" name="Text 23"/>
          <p:cNvSpPr/>
          <p:nvPr/>
        </p:nvSpPr>
        <p:spPr>
          <a:xfrm>
            <a:off x="9911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06</a:t>
            </a:r>
            <a:endParaRPr lang="en-US" sz="1200" dirty="0"/>
          </a:p>
        </p:txBody>
      </p:sp>
      <p:sp>
        <p:nvSpPr>
          <p:cNvPr id="26" name="Text 24"/>
          <p:cNvSpPr/>
          <p:nvPr/>
        </p:nvSpPr>
        <p:spPr>
          <a:xfrm>
            <a:off x="9911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Publish</a:t>
            </a:r>
            <a:endParaRPr lang="en-US" sz="1600" dirty="0"/>
          </a:p>
        </p:txBody>
      </p:sp>
      <p:sp>
        <p:nvSpPr>
          <p:cNvPr id="27" name="Text 25"/>
          <p:cNvSpPr/>
          <p:nvPr/>
        </p:nvSpPr>
        <p:spPr>
          <a:xfrm>
            <a:off x="9911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GeoJSON and CZML, published to a live web viewer</a:t>
            </a:r>
            <a:endParaRPr lang="en-US" sz="1200" dirty="0"/>
          </a:p>
        </p:txBody>
      </p:sp>
      <p:sp>
        <p:nvSpPr>
          <p:cNvPr id="28" name="Text 26"/>
          <p:cNvSpPr/>
          <p:nvPr/>
        </p:nvSpPr>
        <p:spPr>
          <a:xfrm>
            <a:off x="812782" y="5557512"/>
            <a:ext cx="11379218"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Every parameter lives in </a:t>
            </a:r>
            <a:r>
              <a:rPr lang="en-US" sz="1600" b="1" dirty="0">
                <a:solidFill>
                  <a:srgbClr val="46566A"/>
                </a:solidFill>
                <a:latin typeface="IBM Plex Sans" pitchFamily="34" charset="0"/>
                <a:ea typeface="IBM Plex Sans" pitchFamily="34" charset="-122"/>
                <a:cs typeface="IBM Plex Sans" pitchFamily="34" charset="-120"/>
              </a:rPr>
              <a:t>config.yaml</a:t>
            </a:r>
            <a:r>
              <a:rPr lang="en-US" sz="1600" dirty="0">
                <a:solidFill>
                  <a:srgbClr val="46566A"/>
                </a:solidFill>
                <a:latin typeface="IBM Plex Sans" pitchFamily="34" charset="0"/>
                <a:ea typeface="IBM Plex Sans" pitchFamily="34" charset="-122"/>
                <a:cs typeface="IBM Plex Sans" pitchFamily="34" charset="-120"/>
              </a:rPr>
              <a:t>, with lengths in metres so tuning carries over between 10 m and 20 m pixels.</a:t>
            </a:r>
            <a:endParaRPr lang="en-US" sz="1600" dirty="0"/>
          </a:p>
        </p:txBody>
      </p:sp>
      <p:sp>
        <p:nvSpPr>
          <p:cNvPr id="29" name="Text 27"/>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30" name="Text 28"/>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SAR IN ONE SLIDE</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Four ideas behind the detector</a:t>
            </a:r>
            <a:endParaRPr lang="en-US" sz="3600" dirty="0"/>
          </a:p>
        </p:txBody>
      </p:sp>
      <p:sp>
        <p:nvSpPr>
          <p:cNvPr id="4" name="Shape 2"/>
          <p:cNvSpPr/>
          <p:nvPr/>
        </p:nvSpPr>
        <p:spPr>
          <a:xfrm>
            <a:off x="812782" y="1884614"/>
            <a:ext cx="5207000" cy="1902474"/>
          </a:xfrm>
          <a:prstGeom prst="roundRect">
            <a:avLst>
              <a:gd name="adj" fmla="val 5340"/>
            </a:avLst>
          </a:prstGeom>
          <a:solidFill>
            <a:srgbClr val="FBFCFA"/>
          </a:solidFill>
          <a:ln/>
        </p:spPr>
      </p:sp>
      <p:sp>
        <p:nvSpPr>
          <p:cNvPr id="5" name="Text 3"/>
          <p:cNvSpPr/>
          <p:nvPr/>
        </p:nvSpPr>
        <p:spPr>
          <a:xfrm>
            <a:off x="1066782" y="211317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Backscatter</a:t>
            </a:r>
            <a:endParaRPr lang="en-US" sz="2200" dirty="0"/>
          </a:p>
        </p:txBody>
      </p:sp>
      <p:sp>
        <p:nvSpPr>
          <p:cNvPr id="6" name="Text 4"/>
          <p:cNvSpPr/>
          <p:nvPr/>
        </p:nvSpPr>
        <p:spPr>
          <a:xfrm>
            <a:off x="1066782" y="252457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Calm water reflects radar away and looks dark. An iceberg's facets send energy back and look bright.</a:t>
            </a:r>
            <a:endParaRPr lang="en-US" sz="1600" dirty="0"/>
          </a:p>
        </p:txBody>
      </p:sp>
      <p:sp>
        <p:nvSpPr>
          <p:cNvPr id="7" name="Shape 5"/>
          <p:cNvSpPr/>
          <p:nvPr/>
        </p:nvSpPr>
        <p:spPr>
          <a:xfrm>
            <a:off x="6172128" y="1884614"/>
            <a:ext cx="5207090" cy="1902474"/>
          </a:xfrm>
          <a:prstGeom prst="roundRect">
            <a:avLst>
              <a:gd name="adj" fmla="val 5340"/>
            </a:avLst>
          </a:prstGeom>
          <a:solidFill>
            <a:srgbClr val="FBFCFA"/>
          </a:solidFill>
          <a:ln/>
        </p:spPr>
      </p:sp>
      <p:sp>
        <p:nvSpPr>
          <p:cNvPr id="8" name="Text 6"/>
          <p:cNvSpPr/>
          <p:nvPr/>
        </p:nvSpPr>
        <p:spPr>
          <a:xfrm>
            <a:off x="6426128" y="211317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Polarization</a:t>
            </a:r>
            <a:endParaRPr lang="en-US" sz="2200" dirty="0"/>
          </a:p>
        </p:txBody>
      </p:sp>
      <p:sp>
        <p:nvSpPr>
          <p:cNvPr id="9" name="Text 7"/>
          <p:cNvSpPr/>
          <p:nvPr/>
        </p:nvSpPr>
        <p:spPr>
          <a:xfrm>
            <a:off x="6426128" y="252457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Sea clutter is far weaker in cross-pol (HV), so bergs stand out there. HH is the second check.</a:t>
            </a:r>
            <a:endParaRPr lang="en-US" sz="1600" dirty="0"/>
          </a:p>
        </p:txBody>
      </p:sp>
      <p:sp>
        <p:nvSpPr>
          <p:cNvPr id="10" name="Shape 8"/>
          <p:cNvSpPr/>
          <p:nvPr/>
        </p:nvSpPr>
        <p:spPr>
          <a:xfrm>
            <a:off x="812782" y="3939434"/>
            <a:ext cx="5207000" cy="1902564"/>
          </a:xfrm>
          <a:prstGeom prst="roundRect">
            <a:avLst>
              <a:gd name="adj" fmla="val 5340"/>
            </a:avLst>
          </a:prstGeom>
          <a:solidFill>
            <a:srgbClr val="FBFCFA"/>
          </a:solidFill>
          <a:ln/>
        </p:spPr>
      </p:sp>
      <p:sp>
        <p:nvSpPr>
          <p:cNvPr id="11" name="Text 9"/>
          <p:cNvSpPr/>
          <p:nvPr/>
        </p:nvSpPr>
        <p:spPr>
          <a:xfrm>
            <a:off x="1066782" y="416799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Speckle</a:t>
            </a:r>
            <a:endParaRPr lang="en-US" sz="2200" dirty="0"/>
          </a:p>
        </p:txBody>
      </p:sp>
      <p:sp>
        <p:nvSpPr>
          <p:cNvPr id="12" name="Text 10"/>
          <p:cNvSpPr/>
          <p:nvPr/>
        </p:nvSpPr>
        <p:spPr>
          <a:xfrm>
            <a:off x="1066782" y="457939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Grainy noise in every SAR image. Its strength (ENL) is measured per scene and sets the threshold.</a:t>
            </a:r>
            <a:endParaRPr lang="en-US" sz="1600" dirty="0"/>
          </a:p>
        </p:txBody>
      </p:sp>
      <p:sp>
        <p:nvSpPr>
          <p:cNvPr id="13" name="Shape 11"/>
          <p:cNvSpPr/>
          <p:nvPr/>
        </p:nvSpPr>
        <p:spPr>
          <a:xfrm>
            <a:off x="6172128" y="3939434"/>
            <a:ext cx="5207090" cy="1902564"/>
          </a:xfrm>
          <a:prstGeom prst="roundRect">
            <a:avLst>
              <a:gd name="adj" fmla="val 5340"/>
            </a:avLst>
          </a:prstGeom>
          <a:solidFill>
            <a:srgbClr val="FBFCFA"/>
          </a:solidFill>
          <a:ln/>
        </p:spPr>
      </p:sp>
      <p:sp>
        <p:nvSpPr>
          <p:cNvPr id="14" name="Text 12"/>
          <p:cNvSpPr/>
          <p:nvPr/>
        </p:nvSpPr>
        <p:spPr>
          <a:xfrm>
            <a:off x="6426128" y="416799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CFAR</a:t>
            </a:r>
            <a:endParaRPr lang="en-US" sz="2200" dirty="0"/>
          </a:p>
        </p:txBody>
      </p:sp>
      <p:sp>
        <p:nvSpPr>
          <p:cNvPr id="15" name="Text 13"/>
          <p:cNvSpPr/>
          <p:nvPr/>
        </p:nvSpPr>
        <p:spPr>
          <a:xfrm>
            <a:off x="6426128" y="457939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Each pixel is compared with its local background, so false alarms stay rare in calm and rough seas.</a:t>
            </a:r>
            <a:endParaRPr lang="en-US" sz="1600" dirty="0"/>
          </a:p>
        </p:txBody>
      </p:sp>
      <p:sp>
        <p:nvSpPr>
          <p:cNvPr id="16" name="Text 1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7" name="Text 1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1518949"/>
            <a:ext cx="444754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DETECTION</a:t>
            </a:r>
            <a:endParaRPr lang="en-US" sz="1200" dirty="0"/>
          </a:p>
        </p:txBody>
      </p:sp>
      <p:sp>
        <p:nvSpPr>
          <p:cNvPr id="3" name="Text 1"/>
          <p:cNvSpPr/>
          <p:nvPr>
            <p:ph type="title"/>
          </p:nvPr>
        </p:nvSpPr>
        <p:spPr>
          <a:xfrm>
            <a:off x="812782" y="1935485"/>
            <a:ext cx="4447540" cy="103111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CFAR on HV, then three filters</a:t>
            </a:r>
            <a:endParaRPr lang="en-US" sz="3600" dirty="0"/>
          </a:p>
        </p:txBody>
      </p:sp>
      <p:sp>
        <p:nvSpPr>
          <p:cNvPr id="4" name="Text 2"/>
          <p:cNvSpPr/>
          <p:nvPr/>
        </p:nvSpPr>
        <p:spPr>
          <a:xfrm>
            <a:off x="870440" y="3144332"/>
            <a:ext cx="4382262" cy="201681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Threshold</a:t>
            </a:r>
            <a:r>
              <a:rPr lang="en-US" sz="1600" dirty="0">
                <a:solidFill>
                  <a:srgbClr val="46566A"/>
                </a:solidFill>
                <a:latin typeface="IBM Plex Sans" pitchFamily="34" charset="0"/>
                <a:ea typeface="IBM Plex Sans" pitchFamily="34" charset="-122"/>
                <a:cs typeface="IBM Plex Sans" pitchFamily="34" charset="-120"/>
              </a:rPr>
              <a:t> from a 10⁻⁶ false-alarm rate, speckle measured per scene</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Size:</a:t>
            </a:r>
            <a:r>
              <a:rPr lang="en-US" sz="1600" dirty="0">
                <a:solidFill>
                  <a:srgbClr val="46566A"/>
                </a:solidFill>
                <a:latin typeface="IBM Plex Sans" pitchFamily="34" charset="0"/>
                <a:ea typeface="IBM Plex Sans" pitchFamily="34" charset="-122"/>
                <a:cs typeface="IBM Plex Sans" pitchFamily="34" charset="-120"/>
              </a:rPr>
              <a:t> 2 px to 0.8 km²</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Ice strips:</a:t>
            </a:r>
            <a:r>
              <a:rPr lang="en-US" sz="1600" dirty="0">
                <a:solidFill>
                  <a:srgbClr val="46566A"/>
                </a:solidFill>
                <a:latin typeface="IBM Plex Sans" pitchFamily="34" charset="0"/>
                <a:ea typeface="IBM Plex Sans" pitchFamily="34" charset="-122"/>
                <a:cs typeface="IBM Plex Sans" pitchFamily="34" charset="-120"/>
              </a:rPr>
              <a:t> reject bright structures longer than 300 m</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HH check:</a:t>
            </a:r>
            <a:r>
              <a:rPr lang="en-US" sz="1600" dirty="0">
                <a:solidFill>
                  <a:srgbClr val="46566A"/>
                </a:solidFill>
                <a:latin typeface="IBM Plex Sans" pitchFamily="34" charset="0"/>
                <a:ea typeface="IBM Plex Sans" pitchFamily="34" charset="-122"/>
                <a:cs typeface="IBM Plex Sans" pitchFamily="34" charset="-120"/>
              </a:rPr>
              <a:t> at least 6 dB above background in both polarizations</a:t>
            </a:r>
            <a:endParaRPr lang="en-US" sz="1600" dirty="0"/>
          </a:p>
        </p:txBody>
      </p:sp>
      <p:sp>
        <p:nvSpPr>
          <p:cNvPr id="5" name="Shape 3"/>
          <p:cNvSpPr/>
          <p:nvPr/>
        </p:nvSpPr>
        <p:spPr>
          <a:xfrm>
            <a:off x="5486400" y="1042415"/>
            <a:ext cx="5885502" cy="4261104"/>
          </a:xfrm>
          <a:prstGeom prst="roundRect">
            <a:avLst>
              <a:gd name="adj" fmla="val 1788"/>
            </a:avLst>
          </a:prstGeom>
          <a:solidFill>
            <a:srgbClr val="0E2233"/>
          </a:solidFill>
          <a:ln/>
        </p:spPr>
      </p:sp>
      <p:pic>
        <p:nvPicPr>
          <p:cNvPr id="6" name="Image 0" descr="HV radar scene of 8 May 2025 with land and pack ice masked in black and 140 detections circled in red">    </p:cNvPr>
          <p:cNvPicPr>
            <a:picLocks noChangeAspect="1"/>
          </p:cNvPicPr>
          <p:nvPr/>
        </p:nvPicPr>
        <p:blipFill>
          <a:blip r:embed="rId4"/>
          <a:stretch/>
        </p:blipFill>
        <p:spPr>
          <a:xfrm>
            <a:off x="5486400" y="1042415"/>
            <a:ext cx="5885502" cy="4261104"/>
          </a:xfrm>
          <a:prstGeom prst="roundRect">
            <a:avLst>
              <a:gd name="adj" fmla="val 1788"/>
            </a:avLst>
          </a:prstGeom>
        </p:spPr>
      </p:pic>
      <p:sp>
        <p:nvSpPr>
          <p:cNvPr id="7" name="Text 4"/>
          <p:cNvSpPr/>
          <p:nvPr/>
        </p:nvSpPr>
        <p:spPr>
          <a:xfrm>
            <a:off x="5486346" y="5401828"/>
            <a:ext cx="606965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HV, 2025-05-08. Land and pack ice masked (black), 111 detections circled.</a:t>
            </a:r>
            <a:endParaRPr lang="en-US" sz="1200" dirty="0"/>
          </a:p>
        </p:txBody>
      </p:sp>
      <p:sp>
        <p:nvSpPr>
          <p:cNvPr id="8" name="Text 5"/>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9" name="Text 6"/>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VIEWER</a:t>
            </a:r>
            <a:endParaRPr lang="en-US" sz="1200" dirty="0"/>
          </a:p>
        </p:txBody>
      </p:sp>
      <p:sp>
        <p:nvSpPr>
          <p:cNvPr id="3" name="Text 1"/>
          <p:cNvSpPr/>
          <p:nvPr>
            <p:ph type="title"/>
          </p:nvPr>
        </p:nvSpPr>
        <p:spPr>
          <a:xfrm>
            <a:off x="812782" y="1127754"/>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candidate on a globe, by date</a:t>
            </a:r>
            <a:endParaRPr lang="en-US" sz="3600" dirty="0"/>
          </a:p>
        </p:txBody>
      </p:sp>
      <p:pic>
        <p:nvPicPr>
          <p:cNvPr id="4" name="Image 0" descr="Vue and CesiumJS viewer with the 2 May 2025 scene footprint, pack-ice mask and coloured iceberg candidates">    </p:cNvPr>
          <p:cNvPicPr>
            <a:picLocks noChangeAspect="1"/>
          </p:cNvPicPr>
          <p:nvPr/>
        </p:nvPicPr>
        <p:blipFill>
          <a:blip r:embed="rId1"/>
          <a:srcRect l="41" r="41" t="0" b="0"/>
          <a:stretch/>
        </p:blipFill>
        <p:spPr>
          <a:xfrm>
            <a:off x="812782" y="1884614"/>
            <a:ext cx="6858000" cy="3860782"/>
          </a:xfrm>
          <a:prstGeom prst="roundRect">
            <a:avLst>
              <a:gd name="adj" fmla="val 1974"/>
            </a:avLst>
          </a:prstGeom>
        </p:spPr>
      </p:pic>
      <p:sp>
        <p:nvSpPr>
          <p:cNvPr id="5" name="Text 2"/>
          <p:cNvSpPr/>
          <p:nvPr/>
        </p:nvSpPr>
        <p:spPr>
          <a:xfrm>
            <a:off x="8033222" y="1884614"/>
            <a:ext cx="3440485" cy="3982785"/>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32 passes, 2019–2026, live on GitHub Pages</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Scrub the timeline, click a target to see its attributes</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Orange dots: CA-CFAR. Cyan rings: THOR (toggle)</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Grey: within 5 km of pack ice, likely floes</a:t>
            </a:r>
            <a:endParaRPr lang="en-US" sz="1600" dirty="0"/>
          </a:p>
        </p:txBody>
      </p:sp>
      <p:sp>
        <p:nvSpPr>
          <p:cNvPr id="6" name="Text 3"/>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4"/>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766"/>
        </a:solidFill>
      </p:bgPr>
    </p:bg>
    <p:spTree>
      <p:nvGrpSpPr>
        <p:cNvPr id="1" name=""/>
        <p:cNvGrpSpPr/>
        <p:nvPr/>
      </p:nvGrpSpPr>
      <p:grpSpPr>
        <a:xfrm>
          <a:off x="0" y="0"/>
          <a:ext cx="0" cy="0"/>
          <a:chOff x="0" y="0"/>
          <a:chExt cx="0" cy="0"/>
        </a:xfrm>
      </p:grpSpPr>
      <p:sp>
        <p:nvSpPr>
          <p:cNvPr id="2" name="Text 0"/>
          <p:cNvSpPr/>
          <p:nvPr/>
        </p:nvSpPr>
        <p:spPr>
          <a:xfrm>
            <a:off x="812782" y="1582446"/>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E2233"/>
                </a:solidFill>
                <a:latin typeface="IBM Plex Sans" pitchFamily="34" charset="0"/>
                <a:ea typeface="IBM Plex Sans" pitchFamily="34" charset="-122"/>
                <a:cs typeface="IBM Plex Sans" pitchFamily="34" charset="-120"/>
              </a:rPr>
              <a:t>HEADLINE RESULT</a:t>
            </a:r>
            <a:endParaRPr lang="en-US" sz="1200" dirty="0"/>
          </a:p>
        </p:txBody>
      </p:sp>
      <p:sp>
        <p:nvSpPr>
          <p:cNvPr id="3" name="Text 1"/>
          <p:cNvSpPr/>
          <p:nvPr/>
        </p:nvSpPr>
        <p:spPr>
          <a:xfrm>
            <a:off x="812782" y="1948204"/>
            <a:ext cx="10883429" cy="1549400"/>
          </a:xfrm>
          <a:prstGeom prst="rect">
            <a:avLst/>
          </a:prstGeom>
          <a:noFill/>
          <a:ln/>
        </p:spPr>
        <p:txBody>
          <a:bodyPr wrap="square" lIns="0" tIns="0" rIns="0" bIns="0" rtlCol="0" anchor="t">
            <a:normAutofit/>
          </a:bodyPr>
          <a:lstStyle/>
          <a:p>
            <a:pPr algn="l" indent="0" marL="0">
              <a:lnSpc>
                <a:spcPts val="12000"/>
              </a:lnSpc>
              <a:buNone/>
            </a:pPr>
            <a:r>
              <a:rPr lang="en-US" sz="12000" b="1" dirty="0">
                <a:solidFill>
                  <a:srgbClr val="0E2233"/>
                </a:solidFill>
                <a:latin typeface="Source Serif 4" pitchFamily="18" charset="0"/>
                <a:ea typeface="Source Serif 4" pitchFamily="18" charset="-122"/>
                <a:cs typeface="Source Serif 4" pitchFamily="18" charset="-120"/>
              </a:rPr>
              <a:t>78%</a:t>
            </a:r>
            <a:endParaRPr lang="en-US" sz="12000" dirty="0"/>
          </a:p>
        </p:txBody>
      </p:sp>
      <p:sp>
        <p:nvSpPr>
          <p:cNvPr id="4" name="Text 2"/>
          <p:cNvSpPr/>
          <p:nvPr/>
        </p:nvSpPr>
        <p:spPr>
          <a:xfrm>
            <a:off x="812782" y="3624551"/>
            <a:ext cx="9156700" cy="75186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E2233"/>
                </a:solidFill>
                <a:latin typeface="IBM Plex Sans" pitchFamily="34" charset="0"/>
                <a:ea typeface="IBM Plex Sans" pitchFamily="34" charset="-122"/>
                <a:cs typeface="IBM Plex Sans" pitchFamily="34" charset="-120"/>
              </a:rPr>
              <a:t>of the icebergs that International Ice Patrol analysts marked on the same Sentinel-1 pass were found: </a:t>
            </a:r>
            <a:r>
              <a:rPr lang="en-US" sz="2200" b="1" dirty="0">
                <a:solidFill>
                  <a:srgbClr val="0E2233"/>
                </a:solidFill>
                <a:latin typeface="IBM Plex Sans" pitchFamily="34" charset="0"/>
                <a:ea typeface="IBM Plex Sans" pitchFamily="34" charset="-122"/>
                <a:cs typeface="IBM Plex Sans" pitchFamily="34" charset="-120"/>
              </a:rPr>
              <a:t>207 of 267</a:t>
            </a:r>
            <a:r>
              <a:rPr lang="en-US" sz="2200" dirty="0">
                <a:solidFill>
                  <a:srgbClr val="0E2233"/>
                </a:solidFill>
                <a:latin typeface="IBM Plex Sans" pitchFamily="34" charset="0"/>
                <a:ea typeface="IBM Plex Sans" pitchFamily="34" charset="-122"/>
                <a:cs typeface="IBM Plex Sans" pitchFamily="34" charset="-120"/>
              </a:rPr>
              <a:t>.</a:t>
            </a:r>
            <a:endParaRPr lang="en-US" sz="2200" dirty="0"/>
          </a:p>
        </p:txBody>
      </p:sp>
      <p:sp>
        <p:nvSpPr>
          <p:cNvPr id="5" name="Text 3"/>
          <p:cNvSpPr/>
          <p:nvPr/>
        </p:nvSpPr>
        <p:spPr>
          <a:xfrm>
            <a:off x="812782" y="4503356"/>
            <a:ext cx="9156700"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A3A4A"/>
                </a:solidFill>
                <a:latin typeface="IBM Plex Sans" pitchFamily="34" charset="0"/>
                <a:ea typeface="IBM Plex Sans" pitchFamily="34" charset="-122"/>
                <a:cs typeface="IBM Plex Sans" pitchFamily="34" charset="-120"/>
              </a:rPr>
              <a:t>2019-04-29 · median position difference 67 m · recall steady at 73–84% from the coast to 100 km offshore</a:t>
            </a:r>
            <a:endParaRPr lang="en-US" sz="1600" dirty="0"/>
          </a:p>
        </p:txBody>
      </p:sp>
      <p:sp>
        <p:nvSpPr>
          <p:cNvPr id="6" name="Text 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RECALL BY SIZE</a:t>
            </a:r>
            <a:endParaRPr lang="en-US" sz="1200" dirty="0"/>
          </a:p>
        </p:txBody>
      </p:sp>
      <p:sp>
        <p:nvSpPr>
          <p:cNvPr id="3" name="Text 1"/>
          <p:cNvSpPr/>
          <p:nvPr>
            <p:ph type="title"/>
          </p:nvPr>
        </p:nvSpPr>
        <p:spPr>
          <a:xfrm>
            <a:off x="812782" y="1127758"/>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Medium bergs are found best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62"/>
          <a:ext cx="4050792" cy="2190930"/>
        </p:xfrm>
        <a:graphic>
          <a:graphicData uri="http://schemas.openxmlformats.org/drawingml/2006/table">
            <a:tbl>
              <a:tblPr/>
              <a:tblGrid>
                <a:gridCol w="2432304"/>
                <a:gridCol w="1618488"/>
              </a:tblGrid>
              <a:tr h="438186">
                <a:tc>
                  <a:txBody>
                    <a:bodyPr/>
                    <a:lstStyle/>
                    <a:p>
                      <a:pPr indent="0" marL="0" algn="l">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Berg size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Recall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Small, 15–60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65%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Medium, 61–120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81%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Large, over 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 of 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r>
            </a:tbl>
          </a:graphicData>
        </a:graphic>
      </p:graphicFrame>
      <p:sp>
        <p:nvSpPr>
          <p:cNvPr id="5" name="Shape 2"/>
          <p:cNvSpPr/>
          <p:nvPr/>
        </p:nvSpPr>
        <p:spPr>
          <a:xfrm>
            <a:off x="5184648" y="1892807"/>
            <a:ext cx="6150834" cy="3136391"/>
          </a:xfrm>
          <a:prstGeom prst="roundRect">
            <a:avLst>
              <a:gd name="adj" fmla="val 2419"/>
            </a:avLst>
          </a:prstGeom>
          <a:solidFill>
            <a:srgbClr val="FBFCFA"/>
          </a:solidFill>
          <a:ln/>
        </p:spPr>
      </p:sp>
      <p:pic>
        <p:nvPicPr>
          <p:cNvPr id="6" name="Image 0" descr="Map comparing detections with IIP analyst labels on 29 April 2019">    </p:cNvPr>
          <p:cNvPicPr>
            <a:picLocks noChangeAspect="1"/>
          </p:cNvPicPr>
          <p:nvPr/>
        </p:nvPicPr>
        <p:blipFill>
          <a:blip r:embed="rId4"/>
          <a:stretch/>
        </p:blipFill>
        <p:spPr>
          <a:xfrm>
            <a:off x="5184648" y="1892807"/>
            <a:ext cx="6150834" cy="3136391"/>
          </a:xfrm>
          <a:prstGeom prst="roundRect">
            <a:avLst>
              <a:gd name="adj" fmla="val 2227"/>
            </a:avLst>
          </a:prstGeom>
        </p:spPr>
      </p:pic>
      <p:sp>
        <p:nvSpPr>
          <p:cNvPr id="7" name="Shape 3"/>
          <p:cNvSpPr/>
          <p:nvPr/>
        </p:nvSpPr>
        <p:spPr>
          <a:xfrm>
            <a:off x="5184648" y="1892807"/>
            <a:ext cx="6150834" cy="3136391"/>
          </a:xfrm>
          <a:prstGeom prst="roundRect">
            <a:avLst>
              <a:gd name="adj" fmla="val 2323"/>
            </a:avLst>
          </a:prstGeom>
          <a:noFill/>
          <a:ln w="6350">
            <a:solidFill>
              <a:srgbClr val="D5DEE0"/>
            </a:solidFill>
            <a:prstDash val="solid"/>
          </a:ln>
        </p:spPr>
      </p:sp>
      <p:sp>
        <p:nvSpPr>
          <p:cNvPr id="8" name="Text 4"/>
          <p:cNvSpPr/>
          <p:nvPr/>
        </p:nvSpPr>
        <p:spPr>
          <a:xfrm>
            <a:off x="5181564" y="5135745"/>
            <a:ext cx="6383583"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Detections vs. IIP analyst labels, 2019-04-29.</a:t>
            </a:r>
            <a:endParaRPr lang="en-US" sz="1200" dirty="0"/>
          </a:p>
        </p:txBody>
      </p:sp>
      <p:sp>
        <p:nvSpPr>
          <p:cNvPr id="9" name="Text 5"/>
          <p:cNvSpPr/>
          <p:nvPr/>
        </p:nvSpPr>
        <p:spPr>
          <a:xfrm>
            <a:off x="812782" y="6238246"/>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0" name="Text 6"/>
          <p:cNvSpPr/>
          <p:nvPr/>
        </p:nvSpPr>
        <p:spPr>
          <a:xfrm>
            <a:off x="11237976" y="6238246"/>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VALIDATION</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ground-truth source has a catch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56"/>
          <a:ext cx="10554890" cy="1923491"/>
        </p:xfrm>
        <a:graphic>
          <a:graphicData uri="http://schemas.openxmlformats.org/drawingml/2006/table">
            <a:tbl>
              <a:tblPr/>
              <a:tblGrid>
                <a:gridCol w="2955369"/>
                <a:gridCol w="3166467"/>
                <a:gridCol w="4433054"/>
              </a:tblGrid>
              <a:tr h="384698">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Source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What it gives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Outcome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NAIS iceberg chart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Counts per 1° square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Within 2–4×, but opposite errors cancel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IIP aircraft sightings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Positions 5–7 h after the pass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Inconclusive: drift unresolved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Sentinel-2 optical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Bright objects at 10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Loose sea ice in April, bergs inshore in June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IIP labels, same pass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Positions on the same image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Headline: 78% recall, no drift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r>
            </a:tbl>
          </a:graphicData>
        </a:graphic>
      </p:graphicFrame>
      <p:sp>
        <p:nvSpPr>
          <p:cNvPr id="5" name="Text 2"/>
          <p:cNvSpPr/>
          <p:nvPr/>
        </p:nvSpPr>
        <p:spPr>
          <a:xfrm>
            <a:off x="812782" y="4073649"/>
            <a:ext cx="10883429"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Where truth comes hours later, the code estimates a common drift offset and checks it against chance. If the peak is weak, it reports "drift unresolved" instead of a score.</a:t>
            </a:r>
            <a:endParaRPr lang="en-US" sz="1600" dirty="0"/>
          </a:p>
        </p:txBody>
      </p:sp>
      <p:sp>
        <p:nvSpPr>
          <p:cNvPr id="6" name="Text 3"/>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4"/>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LIMITS AND NEXT STEPS</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What the numbers don't show yet</a:t>
            </a:r>
            <a:endParaRPr lang="en-US" sz="3600" dirty="0"/>
          </a:p>
        </p:txBody>
      </p:sp>
      <p:sp>
        <p:nvSpPr>
          <p:cNvPr id="4" name="Shape 2"/>
          <p:cNvSpPr/>
          <p:nvPr/>
        </p:nvSpPr>
        <p:spPr>
          <a:xfrm>
            <a:off x="812782" y="1884611"/>
            <a:ext cx="5158563" cy="3957385"/>
          </a:xfrm>
          <a:prstGeom prst="roundRect">
            <a:avLst>
              <a:gd name="adj" fmla="val 2567"/>
            </a:avLst>
          </a:prstGeom>
          <a:solidFill>
            <a:srgbClr val="FBFCFA"/>
          </a:solidFill>
          <a:ln/>
        </p:spPr>
      </p:sp>
      <p:sp>
        <p:nvSpPr>
          <p:cNvPr id="5" name="Text 3"/>
          <p:cNvSpPr/>
          <p:nvPr/>
        </p:nvSpPr>
        <p:spPr>
          <a:xfrm>
            <a:off x="1117564"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Limits</a:t>
            </a:r>
            <a:endParaRPr lang="en-US" sz="2200" dirty="0"/>
          </a:p>
        </p:txBody>
      </p:sp>
      <p:sp>
        <p:nvSpPr>
          <p:cNvPr id="6" name="Text 4"/>
          <p:cNvSpPr/>
          <p:nvPr/>
        </p:nvSpPr>
        <p:spPr>
          <a:xfrm>
            <a:off x="1195796" y="2600883"/>
            <a:ext cx="4599617" cy="151855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Precision unknown:</a:t>
            </a:r>
            <a:r>
              <a:rPr lang="en-US" sz="1400" dirty="0">
                <a:solidFill>
                  <a:srgbClr val="46566A"/>
                </a:solidFill>
                <a:latin typeface="IBM Plex Sans" pitchFamily="34" charset="0"/>
                <a:ea typeface="IBM Plex Sans" pitchFamily="34" charset="-122"/>
                <a:cs typeface="IBM Plex Sans" pitchFamily="34" charset="-120"/>
              </a:rPr>
              <a:t> 324 of 531 detections on the test pass have no label (bergs, boats or clutter)</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CFAR drops large bergs:</a:t>
            </a:r>
            <a:r>
              <a:rPr lang="en-US" sz="1400" dirty="0">
                <a:solidFill>
                  <a:srgbClr val="46566A"/>
                </a:solidFill>
                <a:latin typeface="IBM Plex Sans" pitchFamily="34" charset="0"/>
                <a:ea typeface="IBM Plex Sans" pitchFamily="34" charset="-122"/>
                <a:cs typeface="IBM Plex Sans" pitchFamily="34" charset="-120"/>
              </a:rPr>
              <a:t> 4 of 14 found; its ice-strip rule rejects them</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Rough seas</a:t>
            </a:r>
            <a:r>
              <a:rPr lang="en-US" sz="1400" dirty="0">
                <a:solidFill>
                  <a:srgbClr val="46566A"/>
                </a:solidFill>
                <a:latin typeface="IBM Plex Sans" pitchFamily="34" charset="0"/>
                <a:ea typeface="IBM Plex Sans" pitchFamily="34" charset="-122"/>
                <a:cs typeface="IBM Plex Sans" pitchFamily="34" charset="-120"/>
              </a:rPr>
              <a:t> raise the HV background 3–4 dB</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THOR needs the pipeline:</a:t>
            </a:r>
            <a:r>
              <a:rPr lang="en-US" sz="1400" dirty="0">
                <a:solidFill>
                  <a:srgbClr val="46566A"/>
                </a:solidFill>
                <a:latin typeface="IBM Plex Sans" pitchFamily="34" charset="0"/>
                <a:ea typeface="IBM Plex Sans" pitchFamily="34" charset="-122"/>
                <a:cs typeface="IBM Plex Sans" pitchFamily="34" charset="-120"/>
              </a:rPr>
              <a:t> the pack-ice mask, and a GPU</a:t>
            </a:r>
            <a:endParaRPr lang="en-US" sz="1400" dirty="0"/>
          </a:p>
        </p:txBody>
      </p:sp>
      <p:sp>
        <p:nvSpPr>
          <p:cNvPr id="7" name="Shape 5"/>
          <p:cNvSpPr/>
          <p:nvPr/>
        </p:nvSpPr>
        <p:spPr>
          <a:xfrm>
            <a:off x="6174473" y="1884611"/>
            <a:ext cx="5204745" cy="3957385"/>
          </a:xfrm>
          <a:prstGeom prst="roundRect">
            <a:avLst>
              <a:gd name="adj" fmla="val 2567"/>
            </a:avLst>
          </a:prstGeom>
          <a:solidFill>
            <a:srgbClr val="FBFCFA"/>
          </a:solidFill>
          <a:ln/>
        </p:spPr>
      </p:sp>
      <p:sp>
        <p:nvSpPr>
          <p:cNvPr id="8" name="Shape 6"/>
          <p:cNvSpPr/>
          <p:nvPr/>
        </p:nvSpPr>
        <p:spPr>
          <a:xfrm>
            <a:off x="6174473" y="1884611"/>
            <a:ext cx="5204745" cy="3957385"/>
          </a:xfrm>
          <a:custGeom>
            <a:avLst/>
            <a:gdLst/>
            <a:ahLst/>
            <a:cxnLst/>
            <a:rect l="l" t="t" r="r" b="b"/>
            <a:pathLst>
              <a:path w="5204745" h="3957385">
                <a:moveTo>
                  <a:pt x="101600" y="3957385"/>
                </a:moveTo>
                <a:lnTo>
                  <a:pt x="101600" y="3957385"/>
                </a:lnTo>
                <a:arcTo hR="101600" wR="101600" stAng="5400000" swAng="5400000"/>
                <a:lnTo>
                  <a:pt x="0" y="101600"/>
                </a:lnTo>
                <a:arcTo hR="101600" wR="101600" stAng="10800000" swAng="5400000"/>
                <a:lnTo>
                  <a:pt x="101600" y="0"/>
                </a:lnTo>
                <a:arcTo hR="101600" wR="50800" stAng="16200000" swAng="-5400000"/>
                <a:lnTo>
                  <a:pt x="50800" y="3855785"/>
                </a:lnTo>
                <a:arcTo hR="101600" wR="50800" stAng="10800000" swAng="-5400000"/>
                <a:close/>
              </a:path>
            </a:pathLst>
          </a:custGeom>
          <a:solidFill>
            <a:srgbClr val="A84B1A"/>
          </a:solidFill>
          <a:ln/>
        </p:spPr>
      </p:sp>
      <p:sp>
        <p:nvSpPr>
          <p:cNvPr id="9" name="Text 7"/>
          <p:cNvSpPr/>
          <p:nvPr/>
        </p:nvSpPr>
        <p:spPr>
          <a:xfrm>
            <a:off x="6525437"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Next</a:t>
            </a:r>
            <a:endParaRPr lang="en-US" sz="2200" dirty="0"/>
          </a:p>
        </p:txBody>
      </p:sp>
      <p:sp>
        <p:nvSpPr>
          <p:cNvPr id="10" name="Text 8"/>
          <p:cNvSpPr/>
          <p:nvPr/>
        </p:nvSpPr>
        <p:spPr>
          <a:xfrm>
            <a:off x="6603669" y="2600883"/>
            <a:ext cx="4599617" cy="176741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AIS ship positions</a:t>
            </a:r>
            <a:r>
              <a:rPr lang="en-US" sz="1400" dirty="0">
                <a:solidFill>
                  <a:srgbClr val="46566A"/>
                </a:solidFill>
                <a:latin typeface="IBM Plex Sans" pitchFamily="34" charset="0"/>
                <a:ea typeface="IBM Plex Sans" pitchFamily="34" charset="-122"/>
                <a:cs typeface="IBM Plex Sans" pitchFamily="34" charset="-120"/>
              </a:rPr>
              <a:t> for the test passes, to measure precision</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Shape-based strip test,</a:t>
            </a:r>
            <a:r>
              <a:rPr lang="en-US" sz="1400" dirty="0">
                <a:solidFill>
                  <a:srgbClr val="46566A"/>
                </a:solidFill>
                <a:latin typeface="IBM Plex Sans" pitchFamily="34" charset="0"/>
                <a:ea typeface="IBM Plex Sans" pitchFamily="34" charset="-122"/>
                <a:cs typeface="IBM Plex Sans" pitchFamily="34" charset="-120"/>
              </a:rPr>
              <a:t> so the CFAR keeps large bergs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THOR at 4×4 patches</a:t>
            </a:r>
            <a:r>
              <a:rPr lang="en-US" sz="1400" dirty="0">
                <a:solidFill>
                  <a:srgbClr val="46566A"/>
                </a:solidFill>
                <a:latin typeface="IBM Plex Sans" pitchFamily="34" charset="0"/>
                <a:ea typeface="IBM Plex Sans" pitchFamily="34" charset="-122"/>
                <a:cs typeface="IBM Plex Sans" pitchFamily="34" charset="-120"/>
              </a:rPr>
              <a:t> for small bergs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OS-CFAR or K-distribution</a:t>
            </a:r>
            <a:r>
              <a:rPr lang="en-US" sz="1400" dirty="0">
                <a:solidFill>
                  <a:srgbClr val="46566A"/>
                </a:solidFill>
                <a:latin typeface="IBM Plex Sans" pitchFamily="34" charset="0"/>
                <a:ea typeface="IBM Plex Sans" pitchFamily="34" charset="-122"/>
                <a:cs typeface="IBM Plex Sans" pitchFamily="34" charset="-120"/>
              </a:rPr>
              <a:t> for heavy-tailed sea clutter</a:t>
            </a:r>
            <a:endParaRPr lang="en-US" sz="1400" dirty="0"/>
          </a:p>
        </p:txBody>
      </p:sp>
      <p:sp>
        <p:nvSpPr>
          <p:cNvPr id="11" name="Text 9"/>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2" name="Text 10"/>
          <p:cNvSpPr/>
          <p:nvPr/>
        </p:nvSpPr>
        <p:spPr>
          <a:xfrm>
            <a:off x="11146536" y="6238242"/>
            <a:ext cx="23774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One command, end to end</a:t>
            </a:r>
            <a:endParaRPr lang="en-US" sz="3600" dirty="0"/>
          </a:p>
        </p:txBody>
      </p:sp>
      <p:sp>
        <p:nvSpPr>
          <p:cNvPr id="4" name="Text 2"/>
          <p:cNvSpPr/>
          <p:nvPr/>
        </p:nvSpPr>
        <p:spPr>
          <a:xfrm>
            <a:off x="812782" y="1884611"/>
            <a:ext cx="10566436" cy="690743"/>
          </a:xfrm>
          <a:prstGeom prst="roundRect">
            <a:avLst>
              <a:gd name="adj" fmla="val 11032"/>
            </a:avLst>
          </a:prstGeom>
          <a:solidFill>
            <a:srgbClr val="0E2233"/>
          </a:solidFill>
          <a:ln/>
        </p:spPr>
        <p:txBody>
          <a:bodyPr wrap="square" lIns="231682" tIns="180882" rIns="0" bIns="155482" rtlCol="0" anchor="t">
            <a:normAutofit/>
          </a:bodyPr>
          <a:lstStyle/>
          <a:p>
            <a:pPr algn="l" indent="0" marL="0">
              <a:lnSpc>
                <a:spcPts val="2240"/>
              </a:lnSpc>
              <a:buNone/>
            </a:pPr>
            <a:r>
              <a:rPr lang="en-US" sz="1600" dirty="0">
                <a:solidFill>
                  <a:srgbClr val="EEF2F0"/>
                </a:solidFill>
                <a:latin typeface="Courier New" pitchFamily="49" charset="0"/>
                <a:ea typeface="Courier New" pitchFamily="49" charset="-122"/>
                <a:cs typeface="Courier New" pitchFamily="49" charset="-120"/>
              </a:rPr>
              <a:t>python -m iceberg_sar.cli run --start 2025-05-01 --end 2025-05-15</a:t>
            </a:r>
            <a:endParaRPr lang="en-US" sz="1600" dirty="0"/>
          </a:p>
        </p:txBody>
      </p:sp>
      <p:sp>
        <p:nvSpPr>
          <p:cNvPr id="5" name="Shape 3"/>
          <p:cNvSpPr/>
          <p:nvPr/>
        </p:nvSpPr>
        <p:spPr>
          <a:xfrm>
            <a:off x="815957" y="2832528"/>
            <a:ext cx="2520932" cy="1158208"/>
          </a:xfrm>
          <a:prstGeom prst="roundRect">
            <a:avLst>
              <a:gd name="adj" fmla="val 6305"/>
            </a:avLst>
          </a:prstGeom>
          <a:solidFill>
            <a:srgbClr val="FBFCFA"/>
          </a:solidFill>
          <a:ln w="6350">
            <a:solidFill>
              <a:srgbClr val="D5DEE0"/>
            </a:solidFill>
            <a:prstDash val="solid"/>
          </a:ln>
        </p:spPr>
      </p:sp>
      <p:sp>
        <p:nvSpPr>
          <p:cNvPr id="6" name="Text 4"/>
          <p:cNvSpPr/>
          <p:nvPr/>
        </p:nvSpPr>
        <p:spPr>
          <a:xfrm>
            <a:off x="1021683" y="3038258"/>
            <a:ext cx="217276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Processing</a:t>
            </a:r>
            <a:endParaRPr lang="en-US" sz="1600" dirty="0"/>
          </a:p>
        </p:txBody>
      </p:sp>
      <p:sp>
        <p:nvSpPr>
          <p:cNvPr id="7" name="Text 5"/>
          <p:cNvSpPr/>
          <p:nvPr/>
        </p:nvSpPr>
        <p:spPr>
          <a:xfrm>
            <a:off x="1021683" y="3358189"/>
            <a:ext cx="2172765"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Python 3.11, NumPy, SciPy, rasterio, GeoPandas, PyTorch</a:t>
            </a:r>
            <a:endParaRPr lang="en-US" sz="1200" dirty="0"/>
          </a:p>
        </p:txBody>
      </p:sp>
      <p:sp>
        <p:nvSpPr>
          <p:cNvPr id="8" name="Shape 6"/>
          <p:cNvSpPr/>
          <p:nvPr/>
        </p:nvSpPr>
        <p:spPr>
          <a:xfrm>
            <a:off x="3495585" y="2832528"/>
            <a:ext cx="2521022" cy="1158208"/>
          </a:xfrm>
          <a:prstGeom prst="roundRect">
            <a:avLst>
              <a:gd name="adj" fmla="val 6305"/>
            </a:avLst>
          </a:prstGeom>
          <a:solidFill>
            <a:srgbClr val="FBFCFA"/>
          </a:solidFill>
          <a:ln w="6350">
            <a:solidFill>
              <a:srgbClr val="D5DEE0"/>
            </a:solidFill>
            <a:prstDash val="solid"/>
          </a:ln>
        </p:spPr>
      </p:sp>
      <p:sp>
        <p:nvSpPr>
          <p:cNvPr id="9" name="Text 7"/>
          <p:cNvSpPr/>
          <p:nvPr/>
        </p:nvSpPr>
        <p:spPr>
          <a:xfrm>
            <a:off x="3701310"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Data</a:t>
            </a:r>
            <a:endParaRPr lang="en-US" sz="1600" dirty="0"/>
          </a:p>
        </p:txBody>
      </p:sp>
      <p:sp>
        <p:nvSpPr>
          <p:cNvPr id="10" name="Text 8"/>
          <p:cNvSpPr/>
          <p:nvPr/>
        </p:nvSpPr>
        <p:spPr>
          <a:xfrm>
            <a:off x="3701310"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asf_search, HyP3 RTC, OSM land polygons, IIP sightings</a:t>
            </a:r>
            <a:endParaRPr lang="en-US" sz="1200" dirty="0"/>
          </a:p>
        </p:txBody>
      </p:sp>
      <p:sp>
        <p:nvSpPr>
          <p:cNvPr id="11" name="Shape 9"/>
          <p:cNvSpPr/>
          <p:nvPr/>
        </p:nvSpPr>
        <p:spPr>
          <a:xfrm>
            <a:off x="6175303" y="2832528"/>
            <a:ext cx="2521022" cy="1158208"/>
          </a:xfrm>
          <a:prstGeom prst="roundRect">
            <a:avLst>
              <a:gd name="adj" fmla="val 6305"/>
            </a:avLst>
          </a:prstGeom>
          <a:solidFill>
            <a:srgbClr val="FBFCFA"/>
          </a:solidFill>
          <a:ln w="6350">
            <a:solidFill>
              <a:srgbClr val="D5DEE0"/>
            </a:solidFill>
            <a:prstDash val="solid"/>
          </a:ln>
        </p:spPr>
      </p:sp>
      <p:sp>
        <p:nvSpPr>
          <p:cNvPr id="12" name="Text 10"/>
          <p:cNvSpPr/>
          <p:nvPr/>
        </p:nvSpPr>
        <p:spPr>
          <a:xfrm>
            <a:off x="6381028"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Viewer</a:t>
            </a:r>
            <a:endParaRPr lang="en-US" sz="1600" dirty="0"/>
          </a:p>
        </p:txBody>
      </p:sp>
      <p:sp>
        <p:nvSpPr>
          <p:cNvPr id="13" name="Text 11"/>
          <p:cNvSpPr/>
          <p:nvPr/>
        </p:nvSpPr>
        <p:spPr>
          <a:xfrm>
            <a:off x="6381028"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Vue 3, CesiumJS, CZML, deployed by GitHub Actions</a:t>
            </a:r>
            <a:endParaRPr lang="en-US" sz="1200" dirty="0"/>
          </a:p>
        </p:txBody>
      </p:sp>
      <p:sp>
        <p:nvSpPr>
          <p:cNvPr id="14" name="Shape 12"/>
          <p:cNvSpPr/>
          <p:nvPr/>
        </p:nvSpPr>
        <p:spPr>
          <a:xfrm>
            <a:off x="8855021" y="2832528"/>
            <a:ext cx="2521022" cy="1158208"/>
          </a:xfrm>
          <a:prstGeom prst="roundRect">
            <a:avLst>
              <a:gd name="adj" fmla="val 6305"/>
            </a:avLst>
          </a:prstGeom>
          <a:solidFill>
            <a:srgbClr val="FBFCFA"/>
          </a:solidFill>
          <a:ln w="6350">
            <a:solidFill>
              <a:srgbClr val="D5DEE0"/>
            </a:solidFill>
            <a:prstDash val="solid"/>
          </a:ln>
        </p:spPr>
      </p:sp>
      <p:sp>
        <p:nvSpPr>
          <p:cNvPr id="15" name="Text 13"/>
          <p:cNvSpPr/>
          <p:nvPr/>
        </p:nvSpPr>
        <p:spPr>
          <a:xfrm>
            <a:off x="9060746"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Quality</a:t>
            </a:r>
            <a:endParaRPr lang="en-US" sz="1600" dirty="0"/>
          </a:p>
        </p:txBody>
      </p:sp>
      <p:sp>
        <p:nvSpPr>
          <p:cNvPr id="16" name="Text 14"/>
          <p:cNvSpPr/>
          <p:nvPr/>
        </p:nvSpPr>
        <p:spPr>
          <a:xfrm>
            <a:off x="9060746"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153 pytest tests, all parameters in config.yaml</a:t>
            </a:r>
            <a:endParaRPr lang="en-US" sz="1200" dirty="0"/>
          </a:p>
        </p:txBody>
      </p:sp>
      <p:sp>
        <p:nvSpPr>
          <p:cNvPr id="17" name="Text 15"/>
          <p:cNvSpPr/>
          <p:nvPr/>
        </p:nvSpPr>
        <p:spPr>
          <a:xfrm>
            <a:off x="812782" y="4247914"/>
            <a:ext cx="10883429"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Re-runs reuse downloaded scenes and outputs, and a dry run shows the HyP3 credit cost first. Then publish and git push update the live viewer.</a:t>
            </a:r>
            <a:endParaRPr lang="en-US" sz="1600" dirty="0"/>
          </a:p>
        </p:txBody>
      </p:sp>
      <p:sp>
        <p:nvSpPr>
          <p:cNvPr id="18" name="Text 16"/>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9" name="Text 17"/>
          <p:cNvSpPr/>
          <p:nvPr/>
        </p:nvSpPr>
        <p:spPr>
          <a:xfrm>
            <a:off x="11146536" y="6238242"/>
            <a:ext cx="23774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812782" y="2029383"/>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THANK YOU</a:t>
            </a:r>
            <a:endParaRPr lang="en-US" sz="1200" dirty="0"/>
          </a:p>
        </p:txBody>
      </p:sp>
      <p:sp>
        <p:nvSpPr>
          <p:cNvPr id="3" name="Text 1"/>
          <p:cNvSpPr/>
          <p:nvPr>
            <p:ph type="title"/>
          </p:nvPr>
        </p:nvSpPr>
        <p:spPr>
          <a:xfrm>
            <a:off x="812782" y="2496790"/>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Questions?</a:t>
            </a:r>
            <a:endParaRPr lang="en-US" sz="6000" dirty="0"/>
          </a:p>
        </p:txBody>
      </p:sp>
      <p:sp>
        <p:nvSpPr>
          <p:cNvPr id="4" name="Text 2"/>
          <p:cNvSpPr/>
          <p:nvPr/>
        </p:nvSpPr>
        <p:spPr>
          <a:xfrm>
            <a:off x="812782" y="3550853"/>
            <a:ext cx="10883429" cy="38863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3DB"/>
                </a:solidFill>
                <a:latin typeface="IBM Plex Sans" pitchFamily="34" charset="0"/>
                <a:ea typeface="IBM Plex Sans" pitchFamily="34" charset="-122"/>
                <a:cs typeface="IBM Plex Sans" pitchFamily="34" charset="-120"/>
              </a:rPr>
              <a:t>Natali Kovalski · </a:t>
            </a:r>
            <a:r>
              <a:rPr lang="en-US" sz="2200" u="sng" dirty="0">
                <a:solidFill>
                  <a:srgbClr val="F2A76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github.com/natali-kovalski/iceberg-alley-sar</a:t>
            </a:r>
            <a:endParaRPr lang="en-US" sz="2200" dirty="0"/>
          </a:p>
        </p:txBody>
      </p:sp>
      <p:sp>
        <p:nvSpPr>
          <p:cNvPr id="5" name="Text 3"/>
          <p:cNvSpPr/>
          <p:nvPr/>
        </p:nvSpPr>
        <p:spPr>
          <a:xfrm>
            <a:off x="812782" y="4168087"/>
            <a:ext cx="9810750" cy="48270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B4BE"/>
                </a:solidFill>
                <a:latin typeface="IBM Plex Sans" pitchFamily="34" charset="0"/>
                <a:ea typeface="IBM Plex Sans" pitchFamily="34" charset="-122"/>
                <a:cs typeface="IBM Plex Sans" pitchFamily="34" charset="-120"/>
              </a:rPr>
              <a:t>Live demo: natali-kovalski.github.io/iceberg-alley-sar. Contains modified Copernicus Sentinel data (2019–2026). Iceberg data: International Ice Patrol (NSIDC G00807) and the North American Ice Service. THOR weights: FM4CS (Apache 2.0). Land polygons © OpenStreetMap contributors.</a:t>
            </a:r>
            <a:endParaRPr lang="en-US" sz="12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3"/>
        </a:solidFill>
      </p:bgPr>
    </p:bg>
    <p:spTree>
      <p:nvGrpSpPr>
        <p:cNvPr id="1" name=""/>
        <p:cNvGrpSpPr/>
        <p:nvPr/>
      </p:nvGrpSpPr>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SECOND DETECTOR</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A frozen foundation model, a tiny head</a:t>
            </a:r>
            <a:endParaRPr lang="en-US" sz="3600" dirty="0"/>
          </a:p>
        </p:txBody>
      </p:sp>
      <p:sp>
        <p:nvSpPr>
          <p:cNvPr id="4" name="Shape 2"/>
          <p:cNvSpPr/>
          <p:nvPr/>
        </p:nvSpPr>
        <p:spPr>
          <a:xfrm>
            <a:off x="815957" y="1938572"/>
            <a:ext cx="3380347" cy="3900253"/>
          </a:xfrm>
          <a:prstGeom prst="roundRect">
            <a:avLst>
              <a:gd name="adj" fmla="val 2912"/>
            </a:avLst>
          </a:prstGeom>
          <a:solidFill>
            <a:srgbClr val="FBFCFA"/>
          </a:solidFill>
          <a:ln w="6350">
            <a:solidFill>
              <a:srgbClr val="D5DEE0"/>
            </a:solidFill>
            <a:prstDash val="solid"/>
          </a:ln>
        </p:spPr>
      </p:sp>
      <p:sp>
        <p:nvSpPr>
          <p:cNvPr id="5" name="Text 3"/>
          <p:cNvSpPr/>
          <p:nvPr/>
        </p:nvSpPr>
        <p:spPr>
          <a:xfrm>
            <a:off x="1123337"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23337"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Frozen encoder</a:t>
            </a:r>
            <a:endParaRPr lang="en-US" sz="2200" dirty="0"/>
          </a:p>
        </p:txBody>
      </p:sp>
      <p:sp>
        <p:nvSpPr>
          <p:cNvPr id="7" name="Text 5"/>
          <p:cNvSpPr/>
          <p:nvPr/>
        </p:nvSpPr>
        <p:spPr>
          <a:xfrm>
            <a:off x="1123337" y="3048631"/>
            <a:ext cx="2848555" cy="144783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THOR Tiny (FM4CS, Apache 2.0), pretrained on Sentinel-1 sigma0. It takes HH/HV natively and is never fine-tuned.</a:t>
            </a:r>
            <a:endParaRPr lang="en-US" sz="1600" dirty="0"/>
          </a:p>
        </p:txBody>
      </p:sp>
      <p:sp>
        <p:nvSpPr>
          <p:cNvPr id="8" name="Shape 6"/>
          <p:cNvSpPr/>
          <p:nvPr/>
        </p:nvSpPr>
        <p:spPr>
          <a:xfrm>
            <a:off x="4405781" y="1938572"/>
            <a:ext cx="3380437" cy="3900253"/>
          </a:xfrm>
          <a:prstGeom prst="roundRect">
            <a:avLst>
              <a:gd name="adj" fmla="val 2912"/>
            </a:avLst>
          </a:prstGeom>
          <a:solidFill>
            <a:srgbClr val="FBFCFA"/>
          </a:solidFill>
          <a:ln w="6350">
            <a:solidFill>
              <a:srgbClr val="D5DEE0"/>
            </a:solidFill>
            <a:prstDash val="solid"/>
          </a:ln>
        </p:spPr>
      </p:sp>
      <p:sp>
        <p:nvSpPr>
          <p:cNvPr id="9" name="Text 7"/>
          <p:cNvSpPr/>
          <p:nvPr/>
        </p:nvSpPr>
        <p:spPr>
          <a:xfrm>
            <a:off x="4713161" y="2245951"/>
            <a:ext cx="2848648"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13161" y="2586362"/>
            <a:ext cx="2848648"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769-parameter head</a:t>
            </a:r>
            <a:endParaRPr lang="en-US" sz="2200" dirty="0"/>
          </a:p>
        </p:txBody>
      </p:sp>
      <p:sp>
        <p:nvSpPr>
          <p:cNvPr id="11" name="Text 9"/>
          <p:cNvSpPr/>
          <p:nvPr/>
        </p:nvSpPr>
        <p:spPr>
          <a:xfrm>
            <a:off x="4713161" y="3048631"/>
            <a:ext cx="2848648"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A linear layer on cached features, trained on IIP labels from 2019–2020 frames. All of April 2019 is held out.</a:t>
            </a:r>
            <a:endParaRPr lang="en-US" sz="1600" dirty="0"/>
          </a:p>
        </p:txBody>
      </p:sp>
      <p:sp>
        <p:nvSpPr>
          <p:cNvPr id="12" name="Shape 10"/>
          <p:cNvSpPr/>
          <p:nvPr/>
        </p:nvSpPr>
        <p:spPr>
          <a:xfrm>
            <a:off x="7995696" y="1938572"/>
            <a:ext cx="3380347" cy="3900253"/>
          </a:xfrm>
          <a:prstGeom prst="roundRect">
            <a:avLst>
              <a:gd name="adj" fmla="val 2912"/>
            </a:avLst>
          </a:prstGeom>
          <a:solidFill>
            <a:srgbClr val="FBFCFA"/>
          </a:solidFill>
          <a:ln w="6350">
            <a:solidFill>
              <a:srgbClr val="D5DEE0"/>
            </a:solidFill>
            <a:prstDash val="solid"/>
          </a:ln>
        </p:spPr>
      </p:sp>
      <p:sp>
        <p:nvSpPr>
          <p:cNvPr id="13" name="Text 11"/>
          <p:cNvSpPr/>
          <p:nvPr/>
        </p:nvSpPr>
        <p:spPr>
          <a:xfrm>
            <a:off x="8303075"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03075"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Same masks</a:t>
            </a:r>
            <a:endParaRPr lang="en-US" sz="2200" dirty="0"/>
          </a:p>
        </p:txBody>
      </p:sp>
      <p:sp>
        <p:nvSpPr>
          <p:cNvPr id="15" name="Text 13"/>
          <p:cNvSpPr/>
          <p:nvPr/>
        </p:nvSpPr>
        <p:spPr>
          <a:xfrm>
            <a:off x="8303075" y="3048631"/>
            <a:ext cx="2848555"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Peaks must fall on the CFAR's masked raster. Output is the same GeoJSON, plus a score, so both run through one validation.</a:t>
            </a:r>
            <a:endParaRPr lang="en-US" sz="1600" dirty="0"/>
          </a:p>
        </p:txBody>
      </p:sp>
      <p:sp>
        <p:nvSpPr>
          <p:cNvPr id="16" name="Text 1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7" name="Text 15"/>
          <p:cNvSpPr/>
          <p:nvPr/>
        </p:nvSpPr>
        <p:spPr>
          <a:xfrm>
            <a:off x="11146536" y="6238242"/>
            <a:ext cx="23774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3"/>
        </a:solidFill>
      </p:bgPr>
    </p:bg>
    <p:spTree>
      <p:nvGrpSpPr>
        <p:cNvPr id="1" name=""/>
        <p:cNvGrpSpPr/>
        <p:nvPr/>
      </p:nvGrpSpPr>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THOR VS. CA-CFAR</a:t>
            </a:r>
            <a:endParaRPr lang="en-US" sz="1200" dirty="0"/>
          </a:p>
        </p:txBody>
      </p:sp>
      <p:sp>
        <p:nvSpPr>
          <p:cNvPr id="3" name="Text 1"/>
          <p:cNvSpPr/>
          <p:nvPr>
            <p:ph type="title"/>
          </p:nvPr>
        </p:nvSpPr>
        <p:spPr>
          <a:xfrm>
            <a:off x="812782" y="1127758"/>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10 points more bergs at the same count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62"/>
          <a:ext cx="4050792" cy="2190930"/>
        </p:xfrm>
        <a:graphic>
          <a:graphicData uri="http://schemas.openxmlformats.org/drawingml/2006/table">
            <a:tbl>
              <a:tblPr/>
              <a:tblGrid>
                <a:gridCol w="2130552"/>
                <a:gridCol w="914400"/>
                <a:gridCol w="1005840"/>
              </a:tblGrid>
              <a:tr h="438186">
                <a:tc>
                  <a:txBody>
                    <a:bodyPr/>
                    <a:lstStyle/>
                    <a:p>
                      <a:pPr indent="0" marL="0" algn="l">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Recall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CFAR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THOR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4 frames, 512 bergs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2019-04-29 only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Medium, 61–120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Large, over 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4 of 14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11 of 14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Small, 15–60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Shape 2"/>
          <p:cNvSpPr/>
          <p:nvPr/>
        </p:nvSpPr>
        <p:spPr>
          <a:xfrm>
            <a:off x="5184648" y="1892807"/>
            <a:ext cx="4882106" cy="3749039"/>
          </a:xfrm>
          <a:prstGeom prst="roundRect">
            <a:avLst>
              <a:gd name="adj" fmla="val 2419"/>
            </a:avLst>
          </a:prstGeom>
          <a:solidFill>
            <a:srgbClr val="FBFCFA"/>
          </a:solidFill>
          <a:ln/>
        </p:spPr>
      </p:sp>
      <p:pic>
        <p:nvPicPr>
          <p:cNvPr id="6" name="Image 0" descr="Map comparing detections with IIP analyst labels on 29 April 2019">    </p:cNvPr>
          <p:cNvPicPr>
            <a:picLocks noChangeAspect="1"/>
          </p:cNvPicPr>
          <p:nvPr/>
        </p:nvPicPr>
        <p:blipFill>
          <a:blip r:embed="rId4"/>
          <a:stretch/>
        </p:blipFill>
        <p:spPr>
          <a:xfrm>
            <a:off x="5184648" y="1892807"/>
            <a:ext cx="4882106" cy="3749039"/>
          </a:xfrm>
          <a:prstGeom prst="roundRect">
            <a:avLst>
              <a:gd name="adj" fmla="val 2227"/>
            </a:avLst>
          </a:prstGeom>
        </p:spPr>
      </p:pic>
      <p:sp>
        <p:nvSpPr>
          <p:cNvPr id="7" name="Shape 3"/>
          <p:cNvSpPr/>
          <p:nvPr/>
        </p:nvSpPr>
        <p:spPr>
          <a:xfrm>
            <a:off x="5184648" y="1892807"/>
            <a:ext cx="4882106" cy="3749039"/>
          </a:xfrm>
          <a:prstGeom prst="roundRect">
            <a:avLst>
              <a:gd name="adj" fmla="val 2323"/>
            </a:avLst>
          </a:prstGeom>
          <a:noFill/>
          <a:ln w="6350">
            <a:solidFill>
              <a:srgbClr val="D5DEE0"/>
            </a:solidFill>
            <a:prstDash val="solid"/>
          </a:ln>
        </p:spPr>
      </p:sp>
      <p:sp>
        <p:nvSpPr>
          <p:cNvPr id="8" name="Text 4"/>
          <p:cNvSpPr/>
          <p:nvPr/>
        </p:nvSpPr>
        <p:spPr>
          <a:xfrm>
            <a:off x="5184648" y="5751574"/>
            <a:ext cx="5943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Recall vs. open-water detections, 4 held-out frames. Square: CFAR at PFA 10⁻⁶.</a:t>
            </a:r>
            <a:endParaRPr lang="en-US" sz="1200" dirty="0"/>
          </a:p>
        </p:txBody>
      </p:sp>
      <p:sp>
        <p:nvSpPr>
          <p:cNvPr id="9" name="Text 5"/>
          <p:cNvSpPr/>
          <p:nvPr/>
        </p:nvSpPr>
        <p:spPr>
          <a:xfrm>
            <a:off x="812782" y="6238246"/>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0" name="Text 6"/>
          <p:cNvSpPr/>
          <p:nvPr/>
        </p:nvSpPr>
        <p:spPr>
          <a:xfrm>
            <a:off x="11146536" y="6238246"/>
            <a:ext cx="23774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theme/theme1.xml><?xml version="1.0" encoding="utf-8"?>
<a:theme xmlns:a="http://schemas.openxmlformats.org/drawingml/2006/main" name="Iceberg Alley SAR — Project Brief">
  <a:themeElements>
    <a:clrScheme name="Iceberg Alley SAR — Project Brief">
      <a:dk1>
        <a:srgbClr val="0E2233"/>
      </a:dk1>
      <a:lt1>
        <a:srgbClr val="F4F6F3"/>
      </a:lt1>
      <a:dk2>
        <a:srgbClr val="485763"/>
      </a:dk2>
      <a:lt2>
        <a:srgbClr val="DDE1E0"/>
      </a:lt2>
      <a:accent1>
        <a:srgbClr val="A84B1A"/>
      </a:accent1>
      <a:accent2>
        <a:srgbClr val="F2A766"/>
      </a:accent2>
      <a:accent3>
        <a:srgbClr val="46566A"/>
      </a:accent3>
      <a:accent4>
        <a:srgbClr val="5A6978"/>
      </a:accent4>
      <a:accent5>
        <a:srgbClr val="BFD3DB"/>
      </a:accent5>
      <a:accent6>
        <a:srgbClr val="2A3A4A"/>
      </a:accent6>
      <a:hlink>
        <a:srgbClr val="0563C1"/>
      </a:hlink>
      <a:folHlink>
        <a:srgbClr val="954F72"/>
      </a:folHlink>
    </a:clrScheme>
    <a:fontScheme name="Iceberg Alley SAR — Project Brief">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Iceberg Alley SAR — Project Brief</dc:title>
  <dc:subject/>
  <dc:creator/>
  <cp:lastModifiedBy/>
  <cp:revision>1</cp:revision>
  <dcterms:created xsi:type="dcterms:W3CDTF">2026-10-06T13:59:26Z</dcterms:created>
  <dcterms:modified xsi:type="dcterms:W3CDTF">2026-10-06T13:59:26Z</dcterms:modified>
</cp:coreProperties>
</file>