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2" r:id="rId8"/>
    <p:sldId id="258" r:id="rId4"/>
    <p:sldId id="259" r:id="rId5"/>
    <p:sldId id="268" r:id="rId19"/>
    <p:sldId id="269" r:id="rId20"/>
    <p:sldId id="263" r:id="rId9"/>
    <p:sldId id="260" r:id="rId6"/>
    <p:sldId id="264" r:id="rId10"/>
    <p:sldId id="261" r:id="rId7"/>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portfolio project: hands-on SAR and maritime-domain work, from raw Sentinel-1 scenes to a foundation-model detector, a fair benchmark against the classical CA-CFAR, and a live CesiumJS viewer. Fifteen years of photogrammetry and geospatial AI, applied to a new sensor.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Area of interest: the northeast Newfoundland coast, roughly Bonavista to St. Anthony, extending offshore. April to June has the most icebergs.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Steps 1-3 are classical SAR processing and feed both detectors; THOR depends on them, especially on the HV pack-ice mask. Every parameter lives in config.yaml, with lengths in metres so tuning carries over between 10 m and 20 m pixels.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HyP3 removes the HV thermal noise floor, so open-water HV sits at -30 to -40 dB with ENL below 1; the pack-ice mask and the CFAR baseline estimate ENL per scene. THOR takes sigma0 in dB, the CFAR linear power. CFAR (constant false alarm rate) is explained on the baseline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CFAR = constant false alarm rate: each pixel is compared with the mean of a ring of sea around it, so the false-alarm rate stays the same in calm and rough water. The threshold assumes gamma-distributed speckle with ENL estimated from the scene. The large bergs are 30+ dB above the sea, so the threshold fires, but their grown blobs measure 340-470 m and exceed the 300 m ice-strip rule. On its own, the CFAR found 78% of the labels on 2019-04-29 counting near-ice detections; under the comparison's rules it is 74%.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Vue 3, Vite and CesiumJS. The viewer reads a manifest and loads one CZML file per scene and detector, so no scene names are hardcoded. `cli.py publish` writes the data, and a push to main deploys it with GitHub Actions. The '?' button explains the points and the method. Live: natali-kovalski.github.io/iceberg-alley-sar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test passes were never used for training or tuning; all of April 2019 was held out because the same bergs show up on nearby passes. Precision can't be measured without AIS ship positions, so both detectors are compared on recall at the same number of detections (the CFAR's count at PFA 1e-6). Caveats: one month of one year, and THOR learned from IIP analyst labels, so part of the gap may be agreement with their labelling style.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held-out April 2019 passes with same-pass IIP labels (512 bergs), identical masks and 500 m matching. The CFAR is swept over PFA, THOR over its score, and both are read at the CFAR's count at PFA 1e-6. THOR leads on every pass (by 0 to 15 points) and matches the CFAR's recall with about 28% fewer detections. The CFAR saturates near 0.83; THOR reaches 0.92. Small bergs are a tie: an 80 m token is coarse for a 20 m target.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Same-pass IIP labels are the only per-berg truth: THOR is trained on them (2019-2020) and both detectors are tested on them (April 2019). They are not independent of the radar: the analysts looked at the same image. NAIS charts are partly modelled; Sentinel-2 can't separate small bergs from floes at 10 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At the matched count the CFAR has 546 and THOR 495 detections without a label on the test passes. On its own, THOR fires on pack ice: 34-82% of its peaks on icy passes fall inside the classical ice mask. A shape-based strip test would make the CFAR baseline stronger on large bergs; it must be tuned off the test passes.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Re-runs reuse downloaded scenes and outputs, and a dry run shows the HyP3 credit cost first (60 credits per 10 m scene). Masking plus CFAR takes about 17 minutes per scene on a laptop CPU; THOR inference 8-15 minutes on a laptop RTX 3070. Next milestone: THOR inside the one-command run.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has the full write-up: method, validation findings and limitations, plus the 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Forgaard et al., 'Efficient iceberg detection in Sentinel-1 imagery using the THOR foundation model', IGARSS 2026. HyP3 gives gamma0, so it is converted to sigma0 with the incidence angle and normalized with THOR's dB statistics. At 8x8 patches a token covers 80 m. The head reads four encoder blocks: 4 x 192 features + 1 bias = 769 parameters. A CenterNet-style head matched but never beat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IIP positions are truncated to 0.1 arc-minute, so each label is moved to its cell centre and snapped to the HH peak, then drawn as a Gaussian target. Heads were chosen on year folds (2019 vs 2020), never on April 2019. On its own THOR also lights up pack ice, which is why it runs on the classical pack-ice mask.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2" y="1127756"/>
            <a:ext cx="10566436" cy="502859"/>
          </a:xfrm>
          <a:prstGeom prst="rect">
            <a:avLst/>
          </a:prstGeom>
          <a:noFill/>
          <a:ln/>
        </p:spPr>
        <p:txBody>
          <a:bodyPr wrap="square" lIns="0" tIns="0" rIns="0" bIns="0" rtlCol="0" anchor="t"/>
          <a:lstStyle>
            <a:lvl1pPr algn="l" indent="0" marL="0">
              <a:lnSpc>
                <a:spcPct val="115000"/>
              </a:lnSpc>
              <a:buNone/>
              <a:defRPr lang="en-US" sz="3600" dirty="0">
                <a:solidFill>
                  <a:srgbClr val="0E2233"/>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782" y="1935415"/>
            <a:ext cx="10566418" cy="4109785"/>
          </a:xfrm>
          <a:prstGeom prst="rect">
            <a:avLst/>
          </a:prstGeom>
          <a:noFill/>
          <a:ln/>
        </p:spPr>
        <p:txBody>
          <a:bodyPr wrap="square" lIns="0" tIns="0" rIns="0" bIns="0" rtlCol="0" anchor="t"/>
          <a:lstStyle>
            <a:lvl1pPr algn="l" indent="0" marL="0">
              <a:lnSpc>
                <a:spcPct val="140000"/>
              </a:lnSpc>
              <a:buNone/>
              <a:defRPr lang="en-US" sz="1600" dirty="0">
                <a:solidFill>
                  <a:srgbClr val="0E2233"/>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2" y="1127756"/>
            <a:ext cx="10566436" cy="502859"/>
          </a:xfrm>
          <a:prstGeom prst="rect">
            <a:avLst/>
          </a:prstGeom>
          <a:noFill/>
          <a:ln/>
        </p:spPr>
        <p:txBody>
          <a:bodyPr wrap="square" lIns="0" tIns="0" rIns="0" bIns="0" rtlCol="0" anchor="t"/>
          <a:lstStyle>
            <a:lvl1pPr algn="l" indent="0" marL="0">
              <a:lnSpc>
                <a:spcPct val="115000"/>
              </a:lnSpc>
              <a:buNone/>
              <a:defRPr lang="en-US" sz="3600" dirty="0">
                <a:solidFill>
                  <a:srgbClr val="0E2233"/>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782" y="1935415"/>
            <a:ext cx="10566418" cy="4109785"/>
          </a:xfrm>
          <a:prstGeom prst="rect">
            <a:avLst/>
          </a:prstGeom>
          <a:noFill/>
          <a:ln/>
        </p:spPr>
        <p:txBody>
          <a:bodyPr wrap="square" lIns="0" tIns="0" rIns="0" bIns="0" rtlCol="0" anchor="t"/>
          <a:lstStyle>
            <a:lvl1pPr algn="l" indent="0" marL="0">
              <a:lnSpc>
                <a:spcPct val="140000"/>
              </a:lnSpc>
              <a:buNone/>
              <a:defRPr lang="en-US" sz="1600" dirty="0">
                <a:solidFill>
                  <a:srgbClr val="0E2233"/>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5.xml"/><Relationship Id="rId4" Type="http://schemas.openxmlformats.org/officeDocument/2006/relationships/image" Target="../media/image4.jp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8.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natali-kovalski/iceberg-alley-sar" TargetMode="Externa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p:bgPr>
    </p:bg>
    <p:spTree>
      <p:nvGrpSpPr>
        <p:cNvPr id="1" name=""/>
        <p:cNvGrpSpPr/>
        <p:nvPr/>
      </p:nvGrpSpPr>
      <p:grpSpPr>
        <a:xfrm>
          <a:off x="0" y="0"/>
          <a:ext cx="0" cy="0"/>
          <a:chOff x="0" y="0"/>
          <a:chExt cx="0" cy="0"/>
        </a:xfrm>
      </p:grpSpPr>
      <p:pic>
        <p:nvPicPr>
          <p:cNvPr id="2" name="Image 0" descr="Cesium viewer showing iceberg candidates off northeast Newfoundland">    </p:cNvPr>
          <p:cNvPicPr>
            <a:picLocks noChangeAspect="1"/>
          </p:cNvPicPr>
          <p:nvPr/>
        </p:nvPicPr>
        <p:blipFill>
          <a:blip r:embed="rId4"/>
          <a:stretch/>
        </p:blipFill>
        <p:spPr>
          <a:xfrm>
            <a:off x="6350000" y="0"/>
            <a:ext cx="5836920" cy="6858000"/>
          </a:xfrm>
          <a:prstGeom prst="rect">
            <a:avLst/>
          </a:prstGeom>
        </p:spPr>
      </p:pic>
      <p:sp>
        <p:nvSpPr>
          <p:cNvPr id="3" name="Shape 0"/>
          <p:cNvSpPr/>
          <p:nvPr/>
        </p:nvSpPr>
        <p:spPr>
          <a:xfrm>
            <a:off x="6350000" y="0"/>
            <a:ext cx="1524000" cy="6858000"/>
          </a:xfrm>
          <a:prstGeom prst="rect">
            <a:avLst/>
          </a:prstGeom>
          <a:gradFill rotWithShape="1">
            <a:gsLst>
              <a:gs pos="0">
                <a:srgbClr val="0E2233"/>
              </a:gs>
              <a:gs pos="100000">
                <a:srgbClr val="0E2233">
                  <a:alpha val="0"/>
                </a:srgbClr>
              </a:gs>
            </a:gsLst>
            <a:lin ang="0" scaled="0"/>
          </a:gradFill>
          <a:ln/>
        </p:spPr>
      </p:sp>
      <p:sp>
        <p:nvSpPr>
          <p:cNvPr id="4" name="Text 1"/>
          <p:cNvSpPr/>
          <p:nvPr/>
        </p:nvSpPr>
        <p:spPr>
          <a:xfrm>
            <a:off x="812782" y="1668949"/>
            <a:ext cx="5232400"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2A766"/>
                </a:solidFill>
                <a:latin typeface="IBM Plex Sans" pitchFamily="34" charset="0"/>
                <a:ea typeface="IBM Plex Sans" pitchFamily="34" charset="-122"/>
                <a:cs typeface="IBM Plex Sans" pitchFamily="34" charset="-120"/>
              </a:rPr>
              <a:t>PROJECT BRIEF · SAR + FOUNDATION MODEL</a:t>
            </a:r>
            <a:endParaRPr lang="en-US" sz="1200" dirty="0"/>
          </a:p>
        </p:txBody>
      </p:sp>
      <p:sp>
        <p:nvSpPr>
          <p:cNvPr id="5" name="Text 2"/>
          <p:cNvSpPr/>
          <p:nvPr>
            <p:ph type="title"/>
          </p:nvPr>
        </p:nvSpPr>
        <p:spPr>
          <a:xfrm>
            <a:off x="812782" y="2085488"/>
            <a:ext cx="5232400" cy="1625528"/>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4F6F3"/>
                </a:solidFill>
                <a:latin typeface="Source Serif 4" pitchFamily="18" charset="0"/>
                <a:ea typeface="Source Serif 4" pitchFamily="18" charset="-122"/>
                <a:cs typeface="Source Serif 4" pitchFamily="18" charset="-120"/>
              </a:rPr>
              <a:t>Iceberg Alley SAR</a:t>
            </a:r>
            <a:endParaRPr lang="en-US" sz="6000" dirty="0"/>
          </a:p>
        </p:txBody>
      </p:sp>
      <p:sp>
        <p:nvSpPr>
          <p:cNvPr id="6" name="Text 3"/>
          <p:cNvSpPr/>
          <p:nvPr/>
        </p:nvSpPr>
        <p:spPr>
          <a:xfrm>
            <a:off x="812782" y="3888744"/>
            <a:ext cx="5232400" cy="909168"/>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FD3DB"/>
                </a:solidFill>
                <a:latin typeface="IBM Plex Sans" pitchFamily="34" charset="0"/>
                <a:ea typeface="IBM Plex Sans" pitchFamily="34" charset="-122"/>
                <a:cs typeface="IBM Plex Sans" pitchFamily="34" charset="-120"/>
              </a:rPr>
              <a:t>Finding icebergs off Newfoundland in satellite radar with THOR, a SAR foundation model, benchmarked against a classical detector and shown on a live globe.</a:t>
            </a:r>
            <a:endParaRPr lang="en-US" sz="1600" dirty="0"/>
          </a:p>
        </p:txBody>
      </p:sp>
      <p:sp>
        <p:nvSpPr>
          <p:cNvPr id="7" name="Text 4"/>
          <p:cNvSpPr/>
          <p:nvPr/>
        </p:nvSpPr>
        <p:spPr>
          <a:xfrm>
            <a:off x="812782" y="4975640"/>
            <a:ext cx="52324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D3DB"/>
                </a:solidFill>
                <a:latin typeface="IBM Plex Sans" pitchFamily="34" charset="0"/>
                <a:ea typeface="IBM Plex Sans" pitchFamily="34" charset="-122"/>
                <a:cs typeface="IBM Plex Sans" pitchFamily="34" charset="-120"/>
              </a:rPr>
              <a:t>Natali Kovalski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THE PROBLEM</a:t>
            </a:r>
            <a:endParaRPr lang="en-US" sz="1200" dirty="0"/>
          </a:p>
        </p:txBody>
      </p:sp>
      <p:sp>
        <p:nvSpPr>
          <p:cNvPr id="3" name="Text 1"/>
          <p:cNvSpPr/>
          <p:nvPr>
            <p:ph type="title"/>
          </p:nvPr>
        </p:nvSpPr>
        <p:spPr>
          <a:xfrm>
            <a:off x="812782" y="1127756"/>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Every spring, icebergs drift into busy water</a:t>
            </a:r>
            <a:endParaRPr lang="en-US" sz="3600" dirty="0"/>
          </a:p>
        </p:txBody>
      </p:sp>
      <p:sp>
        <p:nvSpPr>
          <p:cNvPr id="4" name="Shape 2"/>
          <p:cNvSpPr/>
          <p:nvPr/>
        </p:nvSpPr>
        <p:spPr>
          <a:xfrm>
            <a:off x="815957" y="1938572"/>
            <a:ext cx="3380347" cy="3900253"/>
          </a:xfrm>
          <a:prstGeom prst="roundRect">
            <a:avLst>
              <a:gd name="adj" fmla="val 2912"/>
            </a:avLst>
          </a:prstGeom>
          <a:solidFill>
            <a:srgbClr val="FBFCFA"/>
          </a:solidFill>
          <a:ln w="6350">
            <a:solidFill>
              <a:srgbClr val="D5DEE0"/>
            </a:solidFill>
            <a:prstDash val="solid"/>
          </a:ln>
        </p:spPr>
      </p:sp>
      <p:sp>
        <p:nvSpPr>
          <p:cNvPr id="5" name="Text 3"/>
          <p:cNvSpPr/>
          <p:nvPr/>
        </p:nvSpPr>
        <p:spPr>
          <a:xfrm>
            <a:off x="1123337" y="2245951"/>
            <a:ext cx="284855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01</a:t>
            </a:r>
            <a:endParaRPr lang="en-US" sz="1200" dirty="0"/>
          </a:p>
        </p:txBody>
      </p:sp>
      <p:sp>
        <p:nvSpPr>
          <p:cNvPr id="6" name="Text 4"/>
          <p:cNvSpPr/>
          <p:nvPr/>
        </p:nvSpPr>
        <p:spPr>
          <a:xfrm>
            <a:off x="1123337" y="2586362"/>
            <a:ext cx="2848555"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The hazard</a:t>
            </a:r>
            <a:endParaRPr lang="en-US" sz="2200" dirty="0"/>
          </a:p>
        </p:txBody>
      </p:sp>
      <p:sp>
        <p:nvSpPr>
          <p:cNvPr id="7" name="Text 5"/>
          <p:cNvSpPr/>
          <p:nvPr/>
        </p:nvSpPr>
        <p:spPr>
          <a:xfrm>
            <a:off x="1123337" y="3048631"/>
            <a:ext cx="2848555" cy="1447836"/>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Greenland bergs ride the Labrador Current down "Iceberg Alley", past shipping lanes, fishing grounds and offshore platforms.</a:t>
            </a:r>
            <a:endParaRPr lang="en-US" sz="1600" dirty="0"/>
          </a:p>
        </p:txBody>
      </p:sp>
      <p:sp>
        <p:nvSpPr>
          <p:cNvPr id="8" name="Shape 6"/>
          <p:cNvSpPr/>
          <p:nvPr/>
        </p:nvSpPr>
        <p:spPr>
          <a:xfrm>
            <a:off x="4405781" y="1938572"/>
            <a:ext cx="3380437" cy="3900253"/>
          </a:xfrm>
          <a:prstGeom prst="roundRect">
            <a:avLst>
              <a:gd name="adj" fmla="val 2912"/>
            </a:avLst>
          </a:prstGeom>
          <a:solidFill>
            <a:srgbClr val="FBFCFA"/>
          </a:solidFill>
          <a:ln w="6350">
            <a:solidFill>
              <a:srgbClr val="D5DEE0"/>
            </a:solidFill>
            <a:prstDash val="solid"/>
          </a:ln>
        </p:spPr>
      </p:sp>
      <p:sp>
        <p:nvSpPr>
          <p:cNvPr id="9" name="Text 7"/>
          <p:cNvSpPr/>
          <p:nvPr/>
        </p:nvSpPr>
        <p:spPr>
          <a:xfrm>
            <a:off x="4713161" y="2245951"/>
            <a:ext cx="2848648"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02</a:t>
            </a:r>
            <a:endParaRPr lang="en-US" sz="1200" dirty="0"/>
          </a:p>
        </p:txBody>
      </p:sp>
      <p:sp>
        <p:nvSpPr>
          <p:cNvPr id="10" name="Text 8"/>
          <p:cNvSpPr/>
          <p:nvPr/>
        </p:nvSpPr>
        <p:spPr>
          <a:xfrm>
            <a:off x="4713161" y="2586362"/>
            <a:ext cx="2848648"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The gap</a:t>
            </a:r>
            <a:endParaRPr lang="en-US" sz="2200" dirty="0"/>
          </a:p>
        </p:txBody>
      </p:sp>
      <p:sp>
        <p:nvSpPr>
          <p:cNvPr id="11" name="Text 9"/>
          <p:cNvSpPr/>
          <p:nvPr/>
        </p:nvSpPr>
        <p:spPr>
          <a:xfrm>
            <a:off x="4713161" y="3048631"/>
            <a:ext cx="2848648" cy="1163349"/>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Aircraft reconnaissance is costly and limited by weather, and this coast is often fogged in.</a:t>
            </a:r>
            <a:endParaRPr lang="en-US" sz="1600" dirty="0"/>
          </a:p>
        </p:txBody>
      </p:sp>
      <p:sp>
        <p:nvSpPr>
          <p:cNvPr id="12" name="Shape 10"/>
          <p:cNvSpPr/>
          <p:nvPr/>
        </p:nvSpPr>
        <p:spPr>
          <a:xfrm>
            <a:off x="7995696" y="1938572"/>
            <a:ext cx="3380347" cy="3900253"/>
          </a:xfrm>
          <a:prstGeom prst="roundRect">
            <a:avLst>
              <a:gd name="adj" fmla="val 2912"/>
            </a:avLst>
          </a:prstGeom>
          <a:solidFill>
            <a:srgbClr val="FBFCFA"/>
          </a:solidFill>
          <a:ln w="6350">
            <a:solidFill>
              <a:srgbClr val="D5DEE0"/>
            </a:solidFill>
            <a:prstDash val="solid"/>
          </a:ln>
        </p:spPr>
      </p:sp>
      <p:sp>
        <p:nvSpPr>
          <p:cNvPr id="13" name="Text 11"/>
          <p:cNvSpPr/>
          <p:nvPr/>
        </p:nvSpPr>
        <p:spPr>
          <a:xfrm>
            <a:off x="8303075" y="2245951"/>
            <a:ext cx="284855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03</a:t>
            </a:r>
            <a:endParaRPr lang="en-US" sz="1200" dirty="0"/>
          </a:p>
        </p:txBody>
      </p:sp>
      <p:sp>
        <p:nvSpPr>
          <p:cNvPr id="14" name="Text 12"/>
          <p:cNvSpPr/>
          <p:nvPr/>
        </p:nvSpPr>
        <p:spPr>
          <a:xfrm>
            <a:off x="8303075" y="2586362"/>
            <a:ext cx="2848555"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The idea</a:t>
            </a:r>
            <a:endParaRPr lang="en-US" sz="2200" dirty="0"/>
          </a:p>
        </p:txBody>
      </p:sp>
      <p:sp>
        <p:nvSpPr>
          <p:cNvPr id="15" name="Text 13"/>
          <p:cNvSpPr/>
          <p:nvPr/>
        </p:nvSpPr>
        <p:spPr>
          <a:xfrm>
            <a:off x="8303075" y="3048631"/>
            <a:ext cx="2848555" cy="1163349"/>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Radar sees through cloud and darkness. A foundation model pretrained on Sentinel-1 can learn to find bergs from a few hundred labels.</a:t>
            </a:r>
            <a:endParaRPr lang="en-US" sz="1600" dirty="0"/>
          </a:p>
        </p:txBody>
      </p:sp>
      <p:sp>
        <p:nvSpPr>
          <p:cNvPr id="16" name="Text 14"/>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7" name="Text 15"/>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APPROACH</a:t>
            </a:r>
            <a:endParaRPr lang="en-US" sz="1200" dirty="0"/>
          </a:p>
        </p:txBody>
      </p:sp>
      <p:sp>
        <p:nvSpPr>
          <p:cNvPr id="3" name="Text 1"/>
          <p:cNvSpPr/>
          <p:nvPr>
            <p:ph type="title"/>
          </p:nvPr>
        </p:nvSpPr>
        <p:spPr>
          <a:xfrm>
            <a:off x="812782" y="1127756"/>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Six steps from raw scene to globe</a:t>
            </a:r>
            <a:endParaRPr lang="en-US" sz="3600" dirty="0"/>
          </a:p>
        </p:txBody>
      </p:sp>
      <p:sp>
        <p:nvSpPr>
          <p:cNvPr id="4" name="Shape 2"/>
          <p:cNvSpPr/>
          <p:nvPr/>
        </p:nvSpPr>
        <p:spPr>
          <a:xfrm>
            <a:off x="815957" y="1938572"/>
            <a:ext cx="1670086" cy="3310984"/>
          </a:xfrm>
          <a:prstGeom prst="roundRect">
            <a:avLst>
              <a:gd name="adj" fmla="val 4373"/>
            </a:avLst>
          </a:prstGeom>
          <a:solidFill>
            <a:srgbClr val="FBFCFA"/>
          </a:solidFill>
          <a:ln w="6350">
            <a:solidFill>
              <a:srgbClr val="D5DEE0"/>
            </a:solidFill>
            <a:prstDash val="solid"/>
          </a:ln>
        </p:spPr>
      </p:sp>
      <p:sp>
        <p:nvSpPr>
          <p:cNvPr id="5" name="Text 3"/>
          <p:cNvSpPr/>
          <p:nvPr/>
        </p:nvSpPr>
        <p:spPr>
          <a:xfrm>
            <a:off x="1021683"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01</a:t>
            </a:r>
            <a:endParaRPr lang="en-US" sz="1200" dirty="0"/>
          </a:p>
        </p:txBody>
      </p:sp>
      <p:sp>
        <p:nvSpPr>
          <p:cNvPr id="6" name="Text 4"/>
          <p:cNvSpPr/>
          <p:nvPr/>
        </p:nvSpPr>
        <p:spPr>
          <a:xfrm>
            <a:off x="1021683"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Search</a:t>
            </a:r>
            <a:endParaRPr lang="en-US" sz="1600" dirty="0"/>
          </a:p>
        </p:txBody>
      </p:sp>
      <p:sp>
        <p:nvSpPr>
          <p:cNvPr id="7" name="Text 5"/>
          <p:cNvSpPr/>
          <p:nvPr/>
        </p:nvSpPr>
        <p:spPr>
          <a:xfrm>
            <a:off x="1021683" y="2804643"/>
            <a:ext cx="1309435" cy="66563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ASF search for HH+HV scenes over the AOI</a:t>
            </a:r>
            <a:endParaRPr lang="en-US" sz="1200" dirty="0"/>
          </a:p>
        </p:txBody>
      </p:sp>
      <p:sp>
        <p:nvSpPr>
          <p:cNvPr id="8" name="Shape 6"/>
          <p:cNvSpPr/>
          <p:nvPr/>
        </p:nvSpPr>
        <p:spPr>
          <a:xfrm>
            <a:off x="2593957" y="1938572"/>
            <a:ext cx="1670086" cy="3310984"/>
          </a:xfrm>
          <a:prstGeom prst="roundRect">
            <a:avLst>
              <a:gd name="adj" fmla="val 4373"/>
            </a:avLst>
          </a:prstGeom>
          <a:solidFill>
            <a:srgbClr val="FBFCFA"/>
          </a:solidFill>
          <a:ln w="6350">
            <a:solidFill>
              <a:srgbClr val="D5DEE0"/>
            </a:solidFill>
            <a:prstDash val="solid"/>
          </a:ln>
        </p:spPr>
      </p:sp>
      <p:sp>
        <p:nvSpPr>
          <p:cNvPr id="9" name="Text 7"/>
          <p:cNvSpPr/>
          <p:nvPr/>
        </p:nvSpPr>
        <p:spPr>
          <a:xfrm>
            <a:off x="2799682"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02</a:t>
            </a:r>
            <a:endParaRPr lang="en-US" sz="1200" dirty="0"/>
          </a:p>
        </p:txBody>
      </p:sp>
      <p:sp>
        <p:nvSpPr>
          <p:cNvPr id="10" name="Text 8"/>
          <p:cNvSpPr/>
          <p:nvPr/>
        </p:nvSpPr>
        <p:spPr>
          <a:xfrm>
            <a:off x="2799682"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Calibrate</a:t>
            </a:r>
            <a:endParaRPr lang="en-US" sz="1600" dirty="0"/>
          </a:p>
        </p:txBody>
      </p:sp>
      <p:sp>
        <p:nvSpPr>
          <p:cNvPr id="11" name="Text 9"/>
          <p:cNvSpPr/>
          <p:nvPr/>
        </p:nvSpPr>
        <p:spPr>
          <a:xfrm>
            <a:off x="2799682" y="2804643"/>
            <a:ext cx="1309435" cy="87904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HyP3 terrain correction to 10 m, sigma0 for THOR</a:t>
            </a:r>
            <a:endParaRPr lang="en-US" sz="1200" dirty="0"/>
          </a:p>
        </p:txBody>
      </p:sp>
      <p:sp>
        <p:nvSpPr>
          <p:cNvPr id="12" name="Shape 10"/>
          <p:cNvSpPr/>
          <p:nvPr/>
        </p:nvSpPr>
        <p:spPr>
          <a:xfrm>
            <a:off x="4371957" y="1938572"/>
            <a:ext cx="1670086" cy="3310984"/>
          </a:xfrm>
          <a:prstGeom prst="roundRect">
            <a:avLst>
              <a:gd name="adj" fmla="val 4373"/>
            </a:avLst>
          </a:prstGeom>
          <a:solidFill>
            <a:srgbClr val="FBFCFA"/>
          </a:solidFill>
          <a:ln w="6350">
            <a:solidFill>
              <a:srgbClr val="D5DEE0"/>
            </a:solidFill>
            <a:prstDash val="solid"/>
          </a:ln>
        </p:spPr>
      </p:sp>
      <p:sp>
        <p:nvSpPr>
          <p:cNvPr id="13" name="Text 11"/>
          <p:cNvSpPr/>
          <p:nvPr/>
        </p:nvSpPr>
        <p:spPr>
          <a:xfrm>
            <a:off x="4577682"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03</a:t>
            </a:r>
            <a:endParaRPr lang="en-US" sz="1200" dirty="0"/>
          </a:p>
        </p:txBody>
      </p:sp>
      <p:sp>
        <p:nvSpPr>
          <p:cNvPr id="14" name="Text 12"/>
          <p:cNvSpPr/>
          <p:nvPr/>
        </p:nvSpPr>
        <p:spPr>
          <a:xfrm>
            <a:off x="4577682"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Mask</a:t>
            </a:r>
            <a:endParaRPr lang="en-US" sz="1600" dirty="0"/>
          </a:p>
        </p:txBody>
      </p:sp>
      <p:sp>
        <p:nvSpPr>
          <p:cNvPr id="15" name="Text 13"/>
          <p:cNvSpPr/>
          <p:nvPr/>
        </p:nvSpPr>
        <p:spPr>
          <a:xfrm>
            <a:off x="4577682" y="2804643"/>
            <a:ext cx="1309435" cy="87904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Land plus 500 m from OSM; pack ice from HV texture</a:t>
            </a:r>
            <a:endParaRPr lang="en-US" sz="1200" dirty="0"/>
          </a:p>
        </p:txBody>
      </p:sp>
      <p:sp>
        <p:nvSpPr>
          <p:cNvPr id="16" name="Shape 14"/>
          <p:cNvSpPr/>
          <p:nvPr/>
        </p:nvSpPr>
        <p:spPr>
          <a:xfrm>
            <a:off x="6149957" y="1938572"/>
            <a:ext cx="1670086" cy="3310984"/>
          </a:xfrm>
          <a:prstGeom prst="roundRect">
            <a:avLst>
              <a:gd name="adj" fmla="val 4373"/>
            </a:avLst>
          </a:prstGeom>
          <a:solidFill>
            <a:srgbClr val="FBFCFA"/>
          </a:solidFill>
          <a:ln w="6350">
            <a:solidFill>
              <a:srgbClr val="D5DEE0"/>
            </a:solidFill>
            <a:prstDash val="solid"/>
          </a:ln>
        </p:spPr>
      </p:sp>
      <p:sp>
        <p:nvSpPr>
          <p:cNvPr id="17" name="Text 15"/>
          <p:cNvSpPr/>
          <p:nvPr/>
        </p:nvSpPr>
        <p:spPr>
          <a:xfrm>
            <a:off x="6355682"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04</a:t>
            </a:r>
            <a:endParaRPr lang="en-US" sz="1200" dirty="0"/>
          </a:p>
        </p:txBody>
      </p:sp>
      <p:sp>
        <p:nvSpPr>
          <p:cNvPr id="18" name="Text 16"/>
          <p:cNvSpPr/>
          <p:nvPr/>
        </p:nvSpPr>
        <p:spPr>
          <a:xfrm>
            <a:off x="6355682"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Detect</a:t>
            </a:r>
            <a:endParaRPr lang="en-US" sz="1600" dirty="0"/>
          </a:p>
        </p:txBody>
      </p:sp>
      <p:sp>
        <p:nvSpPr>
          <p:cNvPr id="19" name="Text 17"/>
          <p:cNvSpPr/>
          <p:nvPr/>
        </p:nvSpPr>
        <p:spPr>
          <a:xfrm>
            <a:off x="6355682" y="2804643"/>
            <a:ext cx="1309435" cy="87904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THOR: frozen encoder + 769-parameter head</a:t>
            </a:r>
            <a:endParaRPr lang="en-US" sz="1200" dirty="0"/>
          </a:p>
        </p:txBody>
      </p:sp>
      <p:sp>
        <p:nvSpPr>
          <p:cNvPr id="20" name="Shape 18"/>
          <p:cNvSpPr/>
          <p:nvPr/>
        </p:nvSpPr>
        <p:spPr>
          <a:xfrm>
            <a:off x="7927956" y="1938572"/>
            <a:ext cx="1670086" cy="3310984"/>
          </a:xfrm>
          <a:prstGeom prst="roundRect">
            <a:avLst>
              <a:gd name="adj" fmla="val 4373"/>
            </a:avLst>
          </a:prstGeom>
          <a:solidFill>
            <a:srgbClr val="FBFCFA"/>
          </a:solidFill>
          <a:ln w="6350">
            <a:solidFill>
              <a:srgbClr val="D5DEE0"/>
            </a:solidFill>
            <a:prstDash val="solid"/>
          </a:ln>
        </p:spPr>
      </p:sp>
      <p:sp>
        <p:nvSpPr>
          <p:cNvPr id="21" name="Text 19"/>
          <p:cNvSpPr/>
          <p:nvPr/>
        </p:nvSpPr>
        <p:spPr>
          <a:xfrm>
            <a:off x="8133683"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05</a:t>
            </a:r>
            <a:endParaRPr lang="en-US" sz="1200" dirty="0"/>
          </a:p>
        </p:txBody>
      </p:sp>
      <p:sp>
        <p:nvSpPr>
          <p:cNvPr id="22" name="Text 20"/>
          <p:cNvSpPr/>
          <p:nvPr/>
        </p:nvSpPr>
        <p:spPr>
          <a:xfrm>
            <a:off x="8133683"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Baseline</a:t>
            </a:r>
            <a:endParaRPr lang="en-US" sz="1600" dirty="0"/>
          </a:p>
        </p:txBody>
      </p:sp>
      <p:sp>
        <p:nvSpPr>
          <p:cNvPr id="23" name="Text 21"/>
          <p:cNvSpPr/>
          <p:nvPr/>
        </p:nvSpPr>
        <p:spPr>
          <a:xfrm>
            <a:off x="8133683" y="2804643"/>
            <a:ext cx="1309435" cy="66563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CA-CFAR on HV, same masks, same output</a:t>
            </a:r>
            <a:endParaRPr lang="en-US" sz="1200" dirty="0"/>
          </a:p>
        </p:txBody>
      </p:sp>
      <p:sp>
        <p:nvSpPr>
          <p:cNvPr id="24" name="Shape 22"/>
          <p:cNvSpPr/>
          <p:nvPr/>
        </p:nvSpPr>
        <p:spPr>
          <a:xfrm>
            <a:off x="9705956" y="1938572"/>
            <a:ext cx="1670086" cy="3310984"/>
          </a:xfrm>
          <a:prstGeom prst="roundRect">
            <a:avLst>
              <a:gd name="adj" fmla="val 4373"/>
            </a:avLst>
          </a:prstGeom>
          <a:solidFill>
            <a:srgbClr val="FBFCFA"/>
          </a:solidFill>
          <a:ln w="6350">
            <a:solidFill>
              <a:srgbClr val="D5DEE0"/>
            </a:solidFill>
            <a:prstDash val="solid"/>
          </a:ln>
        </p:spPr>
      </p:sp>
      <p:sp>
        <p:nvSpPr>
          <p:cNvPr id="25" name="Text 23"/>
          <p:cNvSpPr/>
          <p:nvPr/>
        </p:nvSpPr>
        <p:spPr>
          <a:xfrm>
            <a:off x="9911682" y="2144297"/>
            <a:ext cx="130943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06</a:t>
            </a:r>
            <a:endParaRPr lang="en-US" sz="1200" dirty="0"/>
          </a:p>
        </p:txBody>
      </p:sp>
      <p:sp>
        <p:nvSpPr>
          <p:cNvPr id="26" name="Text 24"/>
          <p:cNvSpPr/>
          <p:nvPr/>
        </p:nvSpPr>
        <p:spPr>
          <a:xfrm>
            <a:off x="9911682" y="2459272"/>
            <a:ext cx="130943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Publish</a:t>
            </a:r>
            <a:endParaRPr lang="en-US" sz="1600" dirty="0"/>
          </a:p>
        </p:txBody>
      </p:sp>
      <p:sp>
        <p:nvSpPr>
          <p:cNvPr id="27" name="Text 25"/>
          <p:cNvSpPr/>
          <p:nvPr/>
        </p:nvSpPr>
        <p:spPr>
          <a:xfrm>
            <a:off x="9911682" y="2804643"/>
            <a:ext cx="1309435" cy="87904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GeoJSON and CZML, published to a live web viewer</a:t>
            </a:r>
            <a:endParaRPr lang="en-US" sz="1200" dirty="0"/>
          </a:p>
        </p:txBody>
      </p:sp>
      <p:sp>
        <p:nvSpPr>
          <p:cNvPr id="28" name="Text 26"/>
          <p:cNvSpPr/>
          <p:nvPr/>
        </p:nvSpPr>
        <p:spPr>
          <a:xfrm>
            <a:off x="812782" y="5557512"/>
            <a:ext cx="11379218" cy="30988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THOR and the CFAR share the masks and the output schema, so both run through one validation and one viewer.</a:t>
            </a:r>
            <a:endParaRPr lang="en-US" sz="1600" dirty="0"/>
          </a:p>
        </p:txBody>
      </p:sp>
      <p:sp>
        <p:nvSpPr>
          <p:cNvPr id="29" name="Text 27"/>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30" name="Text 28"/>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4EC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SAR AND ML IN ONE SLIDE</a:t>
            </a:r>
            <a:endParaRPr lang="en-US" sz="1200" dirty="0"/>
          </a:p>
        </p:txBody>
      </p:sp>
      <p:sp>
        <p:nvSpPr>
          <p:cNvPr id="3" name="Text 1"/>
          <p:cNvSpPr/>
          <p:nvPr>
            <p:ph type="title"/>
          </p:nvPr>
        </p:nvSpPr>
        <p:spPr>
          <a:xfrm>
            <a:off x="812782" y="1127756"/>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Four ideas behind the detector</a:t>
            </a:r>
            <a:endParaRPr lang="en-US" sz="3600" dirty="0"/>
          </a:p>
        </p:txBody>
      </p:sp>
      <p:sp>
        <p:nvSpPr>
          <p:cNvPr id="4" name="Shape 2"/>
          <p:cNvSpPr/>
          <p:nvPr/>
        </p:nvSpPr>
        <p:spPr>
          <a:xfrm>
            <a:off x="812782" y="1884614"/>
            <a:ext cx="5207000" cy="1902474"/>
          </a:xfrm>
          <a:prstGeom prst="roundRect">
            <a:avLst>
              <a:gd name="adj" fmla="val 5340"/>
            </a:avLst>
          </a:prstGeom>
          <a:solidFill>
            <a:srgbClr val="FBFCFA"/>
          </a:solidFill>
          <a:ln/>
        </p:spPr>
      </p:sp>
      <p:sp>
        <p:nvSpPr>
          <p:cNvPr id="5" name="Text 3"/>
          <p:cNvSpPr/>
          <p:nvPr/>
        </p:nvSpPr>
        <p:spPr>
          <a:xfrm>
            <a:off x="1066782" y="2113178"/>
            <a:ext cx="4839970"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Backscatter</a:t>
            </a:r>
            <a:endParaRPr lang="en-US" sz="2200" dirty="0"/>
          </a:p>
        </p:txBody>
      </p:sp>
      <p:sp>
        <p:nvSpPr>
          <p:cNvPr id="6" name="Text 4"/>
          <p:cNvSpPr/>
          <p:nvPr/>
        </p:nvSpPr>
        <p:spPr>
          <a:xfrm>
            <a:off x="1066782" y="2524575"/>
            <a:ext cx="4839970"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Calm water reflects radar away and looks dark. An iceberg's facets send energy back and look bright.</a:t>
            </a:r>
            <a:endParaRPr lang="en-US" sz="1600" dirty="0"/>
          </a:p>
        </p:txBody>
      </p:sp>
      <p:sp>
        <p:nvSpPr>
          <p:cNvPr id="7" name="Shape 5"/>
          <p:cNvSpPr/>
          <p:nvPr/>
        </p:nvSpPr>
        <p:spPr>
          <a:xfrm>
            <a:off x="6172128" y="1884614"/>
            <a:ext cx="5207090" cy="1902474"/>
          </a:xfrm>
          <a:prstGeom prst="roundRect">
            <a:avLst>
              <a:gd name="adj" fmla="val 5340"/>
            </a:avLst>
          </a:prstGeom>
          <a:solidFill>
            <a:srgbClr val="FBFCFA"/>
          </a:solidFill>
          <a:ln/>
        </p:spPr>
      </p:sp>
      <p:sp>
        <p:nvSpPr>
          <p:cNvPr id="8" name="Text 6"/>
          <p:cNvSpPr/>
          <p:nvPr/>
        </p:nvSpPr>
        <p:spPr>
          <a:xfrm>
            <a:off x="6426128" y="2113178"/>
            <a:ext cx="4840063"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Polarization</a:t>
            </a:r>
            <a:endParaRPr lang="en-US" sz="2200" dirty="0"/>
          </a:p>
        </p:txBody>
      </p:sp>
      <p:sp>
        <p:nvSpPr>
          <p:cNvPr id="9" name="Text 7"/>
          <p:cNvSpPr/>
          <p:nvPr/>
        </p:nvSpPr>
        <p:spPr>
          <a:xfrm>
            <a:off x="6426128" y="2524575"/>
            <a:ext cx="4840063"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Sea clutter is far weaker in cross-pol (HV), so bergs stand out there. HH is the second check.</a:t>
            </a:r>
            <a:endParaRPr lang="en-US" sz="1600" dirty="0"/>
          </a:p>
        </p:txBody>
      </p:sp>
      <p:sp>
        <p:nvSpPr>
          <p:cNvPr id="10" name="Shape 8"/>
          <p:cNvSpPr/>
          <p:nvPr/>
        </p:nvSpPr>
        <p:spPr>
          <a:xfrm>
            <a:off x="812782" y="3939434"/>
            <a:ext cx="5207000" cy="1902564"/>
          </a:xfrm>
          <a:prstGeom prst="roundRect">
            <a:avLst>
              <a:gd name="adj" fmla="val 5340"/>
            </a:avLst>
          </a:prstGeom>
          <a:solidFill>
            <a:srgbClr val="FBFCFA"/>
          </a:solidFill>
          <a:ln/>
        </p:spPr>
      </p:sp>
      <p:sp>
        <p:nvSpPr>
          <p:cNvPr id="11" name="Text 9"/>
          <p:cNvSpPr/>
          <p:nvPr/>
        </p:nvSpPr>
        <p:spPr>
          <a:xfrm>
            <a:off x="1066782" y="4167998"/>
            <a:ext cx="4839970"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Speckle</a:t>
            </a:r>
            <a:endParaRPr lang="en-US" sz="2200" dirty="0"/>
          </a:p>
        </p:txBody>
      </p:sp>
      <p:sp>
        <p:nvSpPr>
          <p:cNvPr id="12" name="Text 10"/>
          <p:cNvSpPr/>
          <p:nvPr/>
        </p:nvSpPr>
        <p:spPr>
          <a:xfrm>
            <a:off x="1066782" y="4579395"/>
            <a:ext cx="4839970"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Grainy noise in every SAR image. Its strength (ENL) is measured per scene and sets the threshold.</a:t>
            </a:r>
            <a:endParaRPr lang="en-US" sz="1600" dirty="0"/>
          </a:p>
        </p:txBody>
      </p:sp>
      <p:sp>
        <p:nvSpPr>
          <p:cNvPr id="13" name="Shape 11"/>
          <p:cNvSpPr/>
          <p:nvPr/>
        </p:nvSpPr>
        <p:spPr>
          <a:xfrm>
            <a:off x="6172128" y="3939434"/>
            <a:ext cx="5207090" cy="1902564"/>
          </a:xfrm>
          <a:prstGeom prst="roundRect">
            <a:avLst>
              <a:gd name="adj" fmla="val 5340"/>
            </a:avLst>
          </a:prstGeom>
          <a:solidFill>
            <a:srgbClr val="FBFCFA"/>
          </a:solidFill>
          <a:ln/>
        </p:spPr>
      </p:sp>
      <p:sp>
        <p:nvSpPr>
          <p:cNvPr id="14" name="Text 12"/>
          <p:cNvSpPr/>
          <p:nvPr/>
        </p:nvSpPr>
        <p:spPr>
          <a:xfrm>
            <a:off x="6426128" y="4167998"/>
            <a:ext cx="4840063"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Foundation model</a:t>
            </a:r>
            <a:endParaRPr lang="en-US" sz="2200" dirty="0"/>
          </a:p>
        </p:txBody>
      </p:sp>
      <p:sp>
        <p:nvSpPr>
          <p:cNvPr id="15" name="Text 13"/>
          <p:cNvSpPr/>
          <p:nvPr/>
        </p:nvSpPr>
        <p:spPr>
          <a:xfrm>
            <a:off x="6426128" y="4579395"/>
            <a:ext cx="4840063"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A network pretrained on huge amounts of unlabelled imagery. A tiny head on its features can learn a new task from a few hundred labels.</a:t>
            </a:r>
            <a:endParaRPr lang="en-US" sz="1600" dirty="0"/>
          </a:p>
        </p:txBody>
      </p:sp>
      <p:sp>
        <p:nvSpPr>
          <p:cNvPr id="16" name="Text 14"/>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7" name="Text 15"/>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1518949"/>
            <a:ext cx="4447540"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THE BASELINE</a:t>
            </a:r>
            <a:endParaRPr lang="en-US" sz="1200" dirty="0"/>
          </a:p>
        </p:txBody>
      </p:sp>
      <p:sp>
        <p:nvSpPr>
          <p:cNvPr id="3" name="Text 1"/>
          <p:cNvSpPr/>
          <p:nvPr>
            <p:ph type="title"/>
          </p:nvPr>
        </p:nvSpPr>
        <p:spPr>
          <a:xfrm>
            <a:off x="812782" y="1935485"/>
            <a:ext cx="4447540" cy="103111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CA-CFAR: the classical detector</a:t>
            </a:r>
            <a:endParaRPr lang="en-US" sz="3600" dirty="0"/>
          </a:p>
        </p:txBody>
      </p:sp>
      <p:sp>
        <p:nvSpPr>
          <p:cNvPr id="4" name="Text 2"/>
          <p:cNvSpPr/>
          <p:nvPr/>
        </p:nvSpPr>
        <p:spPr>
          <a:xfrm>
            <a:off x="870440" y="3144332"/>
            <a:ext cx="4382262" cy="2016810"/>
          </a:xfrm>
          <a:prstGeom prst="rect">
            <a:avLst/>
          </a:prstGeom>
          <a:noFill/>
          <a:ln/>
        </p:spPr>
        <p:txBody>
          <a:bodyPr wrap="square" lIns="0" tIns="0" rIns="0" bIns="0" rtlCol="0" anchor="t">
            <a:normAutofit/>
          </a:bodyPr>
          <a:lstStyle/>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Threshold</a:t>
            </a:r>
            <a:r>
              <a:rPr lang="en-US" sz="1600" dirty="0">
                <a:solidFill>
                  <a:srgbClr val="46566A"/>
                </a:solidFill>
                <a:latin typeface="IBM Plex Sans" pitchFamily="34" charset="0"/>
                <a:ea typeface="IBM Plex Sans" pitchFamily="34" charset="-122"/>
                <a:cs typeface="IBM Plex Sans" pitchFamily="34" charset="-120"/>
              </a:rPr>
              <a:t> from a 10⁻⁶ false-alarm rate, speckle measured per scene</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Filters:</a:t>
            </a:r>
            <a:r>
              <a:rPr lang="en-US" sz="1600" dirty="0">
                <a:solidFill>
                  <a:srgbClr val="46566A"/>
                </a:solidFill>
                <a:latin typeface="IBM Plex Sans" pitchFamily="34" charset="0"/>
                <a:ea typeface="IBM Plex Sans" pitchFamily="34" charset="-122"/>
                <a:cs typeface="IBM Plex Sans" pitchFamily="34" charset="-120"/>
              </a:rPr>
              <a:t> size, ice strips over 300 m, HH co-pol check</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Strength:</a:t>
            </a:r>
            <a:r>
              <a:rPr lang="en-US" sz="1600" dirty="0">
                <a:solidFill>
                  <a:srgbClr val="46566A"/>
                </a:solidFill>
                <a:latin typeface="IBM Plex Sans" pitchFamily="34" charset="0"/>
                <a:ea typeface="IBM Plex Sans" pitchFamily="34" charset="-122"/>
                <a:cs typeface="IBM Plex Sans" pitchFamily="34" charset="-120"/>
              </a:rPr>
              <a:t> no training, runs on a CPU</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Weakness:</a:t>
            </a:r>
            <a:r>
              <a:rPr lang="en-US" sz="1600" dirty="0">
                <a:solidFill>
                  <a:srgbClr val="46566A"/>
                </a:solidFill>
                <a:latin typeface="IBM Plex Sans" pitchFamily="34" charset="0"/>
                <a:ea typeface="IBM Plex Sans" pitchFamily="34" charset="-122"/>
                <a:cs typeface="IBM Plex Sans" pitchFamily="34" charset="-120"/>
              </a:rPr>
              <a:t> the strip rule drops large bergs</a:t>
            </a:r>
            <a:endParaRPr lang="en-US" sz="1600" dirty="0"/>
          </a:p>
        </p:txBody>
      </p:sp>
      <p:sp>
        <p:nvSpPr>
          <p:cNvPr id="5" name="Shape 3"/>
          <p:cNvSpPr/>
          <p:nvPr/>
        </p:nvSpPr>
        <p:spPr>
          <a:xfrm>
            <a:off x="5486400" y="1042415"/>
            <a:ext cx="5885502" cy="4261104"/>
          </a:xfrm>
          <a:prstGeom prst="roundRect">
            <a:avLst>
              <a:gd name="adj" fmla="val 1788"/>
            </a:avLst>
          </a:prstGeom>
          <a:solidFill>
            <a:srgbClr val="0E2233"/>
          </a:solidFill>
          <a:ln/>
        </p:spPr>
      </p:sp>
      <p:pic>
        <p:nvPicPr>
          <p:cNvPr id="6" name="Image 0" descr="HV radar scene of 8 May 2025 with land and pack ice masked in black and 140 detections circled in red">    </p:cNvPr>
          <p:cNvPicPr>
            <a:picLocks noChangeAspect="1"/>
          </p:cNvPicPr>
          <p:nvPr/>
        </p:nvPicPr>
        <p:blipFill>
          <a:blip r:embed="rId4"/>
          <a:stretch/>
        </p:blipFill>
        <p:spPr>
          <a:xfrm>
            <a:off x="5486400" y="1042415"/>
            <a:ext cx="5885502" cy="4261104"/>
          </a:xfrm>
          <a:prstGeom prst="roundRect">
            <a:avLst>
              <a:gd name="adj" fmla="val 1788"/>
            </a:avLst>
          </a:prstGeom>
        </p:spPr>
      </p:pic>
      <p:sp>
        <p:nvSpPr>
          <p:cNvPr id="7" name="Text 4"/>
          <p:cNvSpPr/>
          <p:nvPr/>
        </p:nvSpPr>
        <p:spPr>
          <a:xfrm>
            <a:off x="5486346" y="5401828"/>
            <a:ext cx="6069658"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HV, 2025-05-08. Land and pack ice masked (black), 111 CFAR detections circled.</a:t>
            </a:r>
            <a:endParaRPr lang="en-US" sz="1200" dirty="0"/>
          </a:p>
        </p:txBody>
      </p:sp>
      <p:sp>
        <p:nvSpPr>
          <p:cNvPr id="8" name="Text 5"/>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9" name="Text 6"/>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VIEWER</a:t>
            </a:r>
            <a:endParaRPr lang="en-US" sz="1200" dirty="0"/>
          </a:p>
        </p:txBody>
      </p:sp>
      <p:sp>
        <p:nvSpPr>
          <p:cNvPr id="3" name="Text 1"/>
          <p:cNvSpPr/>
          <p:nvPr>
            <p:ph type="title"/>
          </p:nvPr>
        </p:nvSpPr>
        <p:spPr>
          <a:xfrm>
            <a:off x="812782" y="1127754"/>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Every candidate on a globe, by date</a:t>
            </a:r>
            <a:endParaRPr lang="en-US" sz="3600" dirty="0"/>
          </a:p>
        </p:txBody>
      </p:sp>
      <p:pic>
        <p:nvPicPr>
          <p:cNvPr id="4" name="Image 0" descr="Vue and CesiumJS viewer with the 2 May 2025 scene footprint, pack-ice mask and coloured iceberg candidates">    </p:cNvPr>
          <p:cNvPicPr>
            <a:picLocks noChangeAspect="1"/>
          </p:cNvPicPr>
          <p:nvPr/>
        </p:nvPicPr>
        <p:blipFill>
          <a:blip r:embed="rId4"/>
          <a:stretch/>
        </p:blipFill>
        <p:spPr>
          <a:xfrm>
            <a:off x="813816" y="1883664"/>
            <a:ext cx="6858000" cy="3857625"/>
          </a:xfrm>
          <a:prstGeom prst="roundRect">
            <a:avLst>
              <a:gd name="adj" fmla="val 1974"/>
            </a:avLst>
          </a:prstGeom>
        </p:spPr>
      </p:pic>
      <p:sp>
        <p:nvSpPr>
          <p:cNvPr id="5" name="Text 2"/>
          <p:cNvSpPr/>
          <p:nvPr/>
        </p:nvSpPr>
        <p:spPr>
          <a:xfrm>
            <a:off x="8033222" y="1884614"/>
            <a:ext cx="3440485" cy="3982785"/>
          </a:xfrm>
          <a:prstGeom prst="rect">
            <a:avLst/>
          </a:prstGeom>
          <a:noFill/>
          <a:ln/>
        </p:spPr>
        <p:txBody>
          <a:bodyPr wrap="square" lIns="0" tIns="0" rIns="0" bIns="0" rtlCol="0" anchor="t">
            <a:normAutofit/>
          </a:bodyPr>
          <a:lstStyle/>
          <a:p>
            <a:pPr algn="l" marL="196342" indent="-196342">
              <a:lnSpc>
                <a:spcPts val="2160"/>
              </a:lnSpc>
              <a:buSzPct val="100000"/>
              <a:buChar char="•"/>
            </a:pPr>
            <a:r>
              <a:rPr lang="en-US" sz="1600" dirty="0">
                <a:solidFill>
                  <a:srgbClr val="46566A"/>
                </a:solidFill>
                <a:latin typeface="IBM Plex Sans" pitchFamily="34" charset="0"/>
                <a:ea typeface="IBM Plex Sans" pitchFamily="34" charset="-122"/>
                <a:cs typeface="IBM Plex Sans" pitchFamily="34" charset="-120"/>
              </a:rPr>
              <a:t>32 scenes (28 passes), 2019–2026, live on GitHub Pages</a:t>
            </a:r>
            <a:endParaRPr lang="en-US" sz="1600" dirty="0"/>
          </a:p>
          <a:p>
            <a:pPr algn="l" marL="196342" indent="-196342">
              <a:lnSpc>
                <a:spcPts val="2160"/>
              </a:lnSpc>
              <a:buSzPct val="100000"/>
              <a:buChar char="•"/>
            </a:pPr>
            <a:r>
              <a:rPr lang="en-US" sz="1600" dirty="0">
                <a:solidFill>
                  <a:srgbClr val="46566A"/>
                </a:solidFill>
                <a:latin typeface="IBM Plex Sans" pitchFamily="34" charset="0"/>
                <a:ea typeface="IBM Plex Sans" pitchFamily="34" charset="-122"/>
                <a:cs typeface="IBM Plex Sans" pitchFamily="34" charset="-120"/>
              </a:rPr>
              <a:t>Cyan rings: THOR. Orange dots: CA-CFAR baseline</a:t>
            </a:r>
            <a:endParaRPr lang="en-US" sz="1600" dirty="0"/>
          </a:p>
          <a:p>
            <a:pPr algn="l" marL="196342" indent="-196342">
              <a:lnSpc>
                <a:spcPts val="2160"/>
              </a:lnSpc>
              <a:buSzPct val="100000"/>
              <a:buChar char="•"/>
            </a:pPr>
            <a:r>
              <a:rPr lang="en-US" sz="1600" dirty="0">
                <a:solidFill>
                  <a:srgbClr val="46566A"/>
                </a:solidFill>
                <a:latin typeface="IBM Plex Sans" pitchFamily="34" charset="0"/>
                <a:ea typeface="IBM Plex Sans" pitchFamily="34" charset="-122"/>
                <a:cs typeface="IBM Plex Sans" pitchFamily="34" charset="-120"/>
              </a:rPr>
              <a:t>Test passes open their THOR vs. CFAR chart</a:t>
            </a:r>
            <a:endParaRPr lang="en-US" sz="1600" dirty="0"/>
          </a:p>
          <a:p>
            <a:pPr algn="l" marL="196342" indent="-196342">
              <a:lnSpc>
                <a:spcPts val="2160"/>
              </a:lnSpc>
              <a:buSzPct val="100000"/>
              <a:buChar char="•"/>
            </a:pPr>
            <a:r>
              <a:rPr lang="en-US" sz="1600" dirty="0">
                <a:solidFill>
                  <a:srgbClr val="46566A"/>
                </a:solidFill>
                <a:latin typeface="IBM Plex Sans" pitchFamily="34" charset="0"/>
                <a:ea typeface="IBM Plex Sans" pitchFamily="34" charset="-122"/>
                <a:cs typeface="IBM Plex Sans" pitchFamily="34" charset="-120"/>
              </a:rPr>
              <a:t>Grey: within 5 km of pack ice, likely floes</a:t>
            </a:r>
            <a:endParaRPr lang="en-US" sz="1600" dirty="0"/>
          </a:p>
        </p:txBody>
      </p:sp>
      <p:sp>
        <p:nvSpPr>
          <p:cNvPr id="6" name="Text 3"/>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7" name="Text 4"/>
          <p:cNvSpPr/>
          <p:nvPr/>
        </p:nvSpPr>
        <p:spPr>
          <a:xfrm>
            <a:off x="11146536" y="6238242"/>
            <a:ext cx="23774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A766"/>
        </a:solidFill>
      </p:bgPr>
    </p:bg>
    <p:spTree>
      <p:nvGrpSpPr>
        <p:cNvPr id="1" name=""/>
        <p:cNvGrpSpPr/>
        <p:nvPr/>
      </p:nvGrpSpPr>
      <p:grpSpPr>
        <a:xfrm>
          <a:off x="0" y="0"/>
          <a:ext cx="0" cy="0"/>
          <a:chOff x="0" y="0"/>
          <a:chExt cx="0" cy="0"/>
        </a:xfrm>
      </p:grpSpPr>
      <p:sp>
        <p:nvSpPr>
          <p:cNvPr id="2" name="Text 0"/>
          <p:cNvSpPr/>
          <p:nvPr/>
        </p:nvSpPr>
        <p:spPr>
          <a:xfrm>
            <a:off x="812782" y="1582446"/>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E2233"/>
                </a:solidFill>
                <a:latin typeface="IBM Plex Sans" pitchFamily="34" charset="0"/>
                <a:ea typeface="IBM Plex Sans" pitchFamily="34" charset="-122"/>
                <a:cs typeface="IBM Plex Sans" pitchFamily="34" charset="-120"/>
              </a:rPr>
              <a:t>HEADLINE RESULT</a:t>
            </a:r>
            <a:endParaRPr lang="en-US" sz="1200" dirty="0"/>
          </a:p>
        </p:txBody>
      </p:sp>
      <p:sp>
        <p:nvSpPr>
          <p:cNvPr id="3" name="Text 1"/>
          <p:cNvSpPr/>
          <p:nvPr/>
        </p:nvSpPr>
        <p:spPr>
          <a:xfrm>
            <a:off x="812782" y="1948204"/>
            <a:ext cx="10883429" cy="1549400"/>
          </a:xfrm>
          <a:prstGeom prst="rect">
            <a:avLst/>
          </a:prstGeom>
          <a:noFill/>
          <a:ln/>
        </p:spPr>
        <p:txBody>
          <a:bodyPr wrap="square" lIns="0" tIns="0" rIns="0" bIns="0" rtlCol="0" anchor="t">
            <a:normAutofit/>
          </a:bodyPr>
          <a:lstStyle/>
          <a:p>
            <a:pPr algn="l" indent="0" marL="0">
              <a:lnSpc>
                <a:spcPts val="12000"/>
              </a:lnSpc>
              <a:buNone/>
            </a:pPr>
            <a:r>
              <a:rPr lang="en-US" sz="12000" b="1" dirty="0">
                <a:solidFill>
                  <a:srgbClr val="0E2233"/>
                </a:solidFill>
                <a:latin typeface="Source Serif 4" pitchFamily="18" charset="0"/>
                <a:ea typeface="Source Serif 4" pitchFamily="18" charset="-122"/>
                <a:cs typeface="Source Serif 4" pitchFamily="18" charset="-120"/>
              </a:rPr>
              <a:t>84%</a:t>
            </a:r>
            <a:endParaRPr lang="en-US" sz="12000" dirty="0"/>
          </a:p>
        </p:txBody>
      </p:sp>
      <p:sp>
        <p:nvSpPr>
          <p:cNvPr id="4" name="Text 2"/>
          <p:cNvSpPr/>
          <p:nvPr/>
        </p:nvSpPr>
        <p:spPr>
          <a:xfrm>
            <a:off x="812782" y="3624551"/>
            <a:ext cx="9156700" cy="751862"/>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0E2233"/>
                </a:solidFill>
                <a:latin typeface="IBM Plex Sans" pitchFamily="34" charset="0"/>
                <a:ea typeface="IBM Plex Sans" pitchFamily="34" charset="-122"/>
                <a:cs typeface="IBM Plex Sans" pitchFamily="34" charset="-120"/>
              </a:rPr>
              <a:t>of the icebergs Ice Patrol analysts marked on four held-out passes were found by THOR: </a:t>
            </a:r>
            <a:r>
              <a:rPr lang="en-US" sz="2200" b="1" dirty="0">
                <a:solidFill>
                  <a:srgbClr val="0E2233"/>
                </a:solidFill>
                <a:latin typeface="IBM Plex Sans" pitchFamily="34" charset="0"/>
                <a:ea typeface="IBM Plex Sans" pitchFamily="34" charset="-122"/>
                <a:cs typeface="IBM Plex Sans" pitchFamily="34" charset="-120"/>
              </a:rPr>
              <a:t>431 of 512</a:t>
            </a:r>
            <a:r>
              <a:rPr lang="en-US" sz="2200" dirty="0">
                <a:solidFill>
                  <a:srgbClr val="0E2233"/>
                </a:solidFill>
                <a:latin typeface="IBM Plex Sans" pitchFamily="34" charset="0"/>
                <a:ea typeface="IBM Plex Sans" pitchFamily="34" charset="-122"/>
                <a:cs typeface="IBM Plex Sans" pitchFamily="34" charset="-120"/>
              </a:rPr>
              <a:t>. A classical CA-CFAR found 380, with as many detections.</a:t>
            </a:r>
            <a:endParaRPr lang="en-US" sz="2200" dirty="0"/>
          </a:p>
        </p:txBody>
      </p:sp>
      <p:sp>
        <p:nvSpPr>
          <p:cNvPr id="5" name="Text 3"/>
          <p:cNvSpPr/>
          <p:nvPr/>
        </p:nvSpPr>
        <p:spPr>
          <a:xfrm>
            <a:off x="812782" y="4823396"/>
            <a:ext cx="9156700" cy="59437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A3A4A"/>
                </a:solidFill>
                <a:latin typeface="IBM Plex Sans" pitchFamily="34" charset="0"/>
                <a:ea typeface="IBM Plex Sans" pitchFamily="34" charset="-122"/>
                <a:cs typeface="IBM Plex Sans" pitchFamily="34" charset="-120"/>
              </a:rPr>
              <a:t>April 2019 · same masks, labels, matching and detection count · large bergs: 11 of 14 vs. 4</a:t>
            </a:r>
            <a:endParaRPr lang="en-US" sz="1600" dirty="0"/>
          </a:p>
        </p:txBody>
      </p:sp>
      <p:sp>
        <p:nvSpPr>
          <p:cNvPr id="6" name="Text 4"/>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3A4A"/>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7" name="Text 5"/>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2A3A4A"/>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4"/>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THOR VS. CA-CFAR</a:t>
            </a:r>
            <a:endParaRPr lang="en-US" sz="1200" dirty="0"/>
          </a:p>
        </p:txBody>
      </p:sp>
      <p:sp>
        <p:nvSpPr>
          <p:cNvPr id="3" name="Text 1"/>
          <p:cNvSpPr/>
          <p:nvPr>
            <p:ph type="title"/>
          </p:nvPr>
        </p:nvSpPr>
        <p:spPr>
          <a:xfrm>
            <a:off x="812782" y="1127758"/>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10 points more bergs at the same count</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896162"/>
          <a:ext cx="4050792" cy="2190930"/>
        </p:xfrm>
        <a:graphic>
          <a:graphicData uri="http://schemas.openxmlformats.org/drawingml/2006/table">
            <a:tbl>
              <a:tblPr/>
              <a:tblGrid>
                <a:gridCol w="2130552"/>
                <a:gridCol w="914400"/>
                <a:gridCol w="1005840"/>
              </a:tblGrid>
              <a:tr h="438186">
                <a:tc>
                  <a:txBody>
                    <a:bodyPr/>
                    <a:lstStyle/>
                    <a:p>
                      <a:pPr indent="0" marL="0" algn="l">
                        <a:lnSpc>
                          <a:spcPts val="2240"/>
                        </a:lnSpc>
                        <a:buNone/>
                      </a:pPr>
                      <a:r>
                        <a:rPr lang="en-US" sz="1600" b="1" dirty="0">
                          <a:solidFill>
                            <a:srgbClr val="0E2233"/>
                          </a:solidFill>
                          <a:latin typeface="IBM Plex Sans" pitchFamily="34" charset="0"/>
                          <a:ea typeface="IBM Plex Sans" pitchFamily="34" charset="-122"/>
                          <a:cs typeface="IBM Plex Sans" pitchFamily="34" charset="-120"/>
                        </a:rPr>
                        <a:t>Recall</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algn="r" indent="0" marL="0">
                        <a:lnSpc>
                          <a:spcPts val="2240"/>
                        </a:lnSpc>
                        <a:buNone/>
                      </a:pPr>
                      <a:r>
                        <a:rPr lang="en-US" sz="1600" b="1" dirty="0">
                          <a:solidFill>
                            <a:srgbClr val="0E2233"/>
                          </a:solidFill>
                          <a:latin typeface="IBM Plex Sans" pitchFamily="34" charset="0"/>
                          <a:ea typeface="IBM Plex Sans" pitchFamily="34" charset="-122"/>
                          <a:cs typeface="IBM Plex Sans" pitchFamily="34" charset="-120"/>
                        </a:rPr>
                        <a:t>CFAR</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algn="r" indent="0" marL="0">
                        <a:lnSpc>
                          <a:spcPts val="2240"/>
                        </a:lnSpc>
                        <a:buNone/>
                      </a:pPr>
                      <a:r>
                        <a:rPr lang="en-US" sz="1600" b="1" dirty="0">
                          <a:solidFill>
                            <a:srgbClr val="0E2233"/>
                          </a:solidFill>
                          <a:latin typeface="IBM Plex Sans" pitchFamily="34" charset="0"/>
                          <a:ea typeface="IBM Plex Sans" pitchFamily="34" charset="-122"/>
                          <a:cs typeface="IBM Plex Sans" pitchFamily="34" charset="-120"/>
                        </a:rPr>
                        <a:t>THOR</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4 passes, 512 bergs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0.74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0.84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2019-04-29 only</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0.74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0.89</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Medium, 61–120 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0.76</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0.87</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Large, over 120 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B6BCB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6BCBE"/>
                      </a:solidFill>
                      <a:prstDash val="solid"/>
                      <a:round/>
                      <a:headEnd type="none" w="med" len="med"/>
                      <a:tailEnd type="none" w="med" len="med"/>
                    </a:lnB>
                    <a:solidFill>
                      <a:srgbClr val="E4ECEE"/>
                    </a:solidFill>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4 of 14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CBE"/>
                      </a:solidFill>
                      <a:prstDash val="solid"/>
                      <a:round/>
                      <a:headEnd type="none" w="med" len="med"/>
                      <a:tailEnd type="none" w="med" len="med"/>
                    </a:lnL>
                    <a:lnR w="12700" cap="flat" cmpd="sng" algn="ctr">
                      <a:solidFill>
                        <a:srgbClr val="B6BCB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6BCBE"/>
                      </a:solidFill>
                      <a:prstDash val="solid"/>
                      <a:round/>
                      <a:headEnd type="none" w="med" len="med"/>
                      <a:tailEnd type="none" w="med" len="med"/>
                    </a:lnB>
                    <a:solidFill>
                      <a:srgbClr val="E4ECEE"/>
                    </a:solidFill>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11 of 14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CBE"/>
                      </a:solidFill>
                      <a:prstDash val="solid"/>
                      <a:round/>
                      <a:headEnd type="none" w="med" len="med"/>
                      <a:tailEnd type="none" w="med" len="med"/>
                    </a:lnL>
                    <a:lnR w="12700" cap="flat" cmpd="sng" algn="ctr">
                      <a:solidFill>
                        <a:srgbClr val="B6BCB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6BCBE"/>
                      </a:solidFill>
                      <a:prstDash val="solid"/>
                      <a:round/>
                      <a:headEnd type="none" w="med" len="med"/>
                      <a:tailEnd type="none" w="med" len="med"/>
                    </a:lnB>
                    <a:solidFill>
                      <a:srgbClr val="E4ECEE"/>
                    </a:solidFill>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Small, 15–60 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0.71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0.71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bl>
          </a:graphicData>
        </a:graphic>
      </p:graphicFrame>
      <p:sp>
        <p:nvSpPr>
          <p:cNvPr id="5" name="Shape 2"/>
          <p:cNvSpPr/>
          <p:nvPr/>
        </p:nvSpPr>
        <p:spPr>
          <a:xfrm>
            <a:off x="5184648" y="1892807"/>
            <a:ext cx="4882106" cy="3749039"/>
          </a:xfrm>
          <a:prstGeom prst="roundRect">
            <a:avLst>
              <a:gd name="adj" fmla="val 2419"/>
            </a:avLst>
          </a:prstGeom>
          <a:solidFill>
            <a:srgbClr val="FBFCFA"/>
          </a:solidFill>
          <a:ln/>
        </p:spPr>
      </p:sp>
      <p:pic>
        <p:nvPicPr>
          <p:cNvPr id="6" name="Image 0" descr="Map comparing detections with IIP analyst labels on 29 April 2019">    </p:cNvPr>
          <p:cNvPicPr>
            <a:picLocks noChangeAspect="1"/>
          </p:cNvPicPr>
          <p:nvPr/>
        </p:nvPicPr>
        <p:blipFill>
          <a:blip r:embed="rId4"/>
          <a:stretch/>
        </p:blipFill>
        <p:spPr>
          <a:xfrm>
            <a:off x="5184648" y="1892807"/>
            <a:ext cx="4882106" cy="3749039"/>
          </a:xfrm>
          <a:prstGeom prst="roundRect">
            <a:avLst>
              <a:gd name="adj" fmla="val 2227"/>
            </a:avLst>
          </a:prstGeom>
        </p:spPr>
      </p:pic>
      <p:sp>
        <p:nvSpPr>
          <p:cNvPr id="7" name="Shape 3"/>
          <p:cNvSpPr/>
          <p:nvPr/>
        </p:nvSpPr>
        <p:spPr>
          <a:xfrm>
            <a:off x="5184648" y="1892807"/>
            <a:ext cx="4882106" cy="3749039"/>
          </a:xfrm>
          <a:prstGeom prst="roundRect">
            <a:avLst>
              <a:gd name="adj" fmla="val 2323"/>
            </a:avLst>
          </a:prstGeom>
          <a:noFill/>
          <a:ln w="6350">
            <a:solidFill>
              <a:srgbClr val="D5DEE0"/>
            </a:solidFill>
            <a:prstDash val="solid"/>
          </a:ln>
        </p:spPr>
      </p:sp>
      <p:sp>
        <p:nvSpPr>
          <p:cNvPr id="8" name="Text 4"/>
          <p:cNvSpPr/>
          <p:nvPr/>
        </p:nvSpPr>
        <p:spPr>
          <a:xfrm>
            <a:off x="5184648" y="5751574"/>
            <a:ext cx="59436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Recall vs. open-water detections, 4 held-out passes. Square: CFAR at PFA 10⁻⁶.</a:t>
            </a:r>
            <a:endParaRPr lang="en-US" sz="1200" dirty="0"/>
          </a:p>
        </p:txBody>
      </p:sp>
      <p:sp>
        <p:nvSpPr>
          <p:cNvPr id="9" name="Text 5"/>
          <p:cNvSpPr/>
          <p:nvPr/>
        </p:nvSpPr>
        <p:spPr>
          <a:xfrm>
            <a:off x="812782" y="6238246"/>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0" name="Text 6"/>
          <p:cNvSpPr/>
          <p:nvPr/>
        </p:nvSpPr>
        <p:spPr>
          <a:xfrm>
            <a:off x="11237976" y="6238246"/>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VALIDATION</a:t>
            </a:r>
            <a:endParaRPr lang="en-US" sz="1200" dirty="0"/>
          </a:p>
        </p:txBody>
      </p:sp>
      <p:sp>
        <p:nvSpPr>
          <p:cNvPr id="3" name="Text 1"/>
          <p:cNvSpPr/>
          <p:nvPr>
            <p:ph type="title"/>
          </p:nvPr>
        </p:nvSpPr>
        <p:spPr>
          <a:xfrm>
            <a:off x="812782" y="1127751"/>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Every ground-truth source has a catch</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896156"/>
          <a:ext cx="10552176" cy="1923491"/>
        </p:xfrm>
        <a:graphic>
          <a:graphicData uri="http://schemas.openxmlformats.org/drawingml/2006/table">
            <a:tbl>
              <a:tblPr/>
              <a:tblGrid>
                <a:gridCol w="2743200"/>
                <a:gridCol w="3291840"/>
                <a:gridCol w="4517136"/>
              </a:tblGrid>
              <a:tr h="384698">
                <a:tc>
                  <a:txBody>
                    <a:bodyPr/>
                    <a:lstStyle/>
                    <a:p>
                      <a:pPr indent="0" marL="0" algn="l">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Source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indent="0" marL="0" algn="l">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What it gives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indent="0" marL="0" algn="l">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Outcome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r>
              <a:tr h="384698">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NAIS iceberg chart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Counts per 1° square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Within 2–4×, but opposite errors cancel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IIP aircraft sightings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Positions 5–7 h after the pass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Inconclusive: drift unresolved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Sentinel-2 optical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Bright objects at 10 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Loose sea ice in April, bergs inshore in June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IIP labels, same pass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Positions on the same image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7B19E"/>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Train and test sets: no drift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7B19E"/>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r>
            </a:tbl>
          </a:graphicData>
        </a:graphic>
      </p:graphicFrame>
      <p:sp>
        <p:nvSpPr>
          <p:cNvPr id="5" name="Text 2"/>
          <p:cNvSpPr/>
          <p:nvPr/>
        </p:nvSpPr>
        <p:spPr>
          <a:xfrm>
            <a:off x="812782" y="4073649"/>
            <a:ext cx="10883429" cy="59437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Where truth comes hours later, the code estimates a common drift offset and checks it against chance. If the peak is weak, it reports "drift unresolved" instead of a score.</a:t>
            </a:r>
            <a:endParaRPr lang="en-US" sz="1600" dirty="0"/>
          </a:p>
        </p:txBody>
      </p:sp>
      <p:sp>
        <p:nvSpPr>
          <p:cNvPr id="6" name="Text 3"/>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7" name="Text 4"/>
          <p:cNvSpPr/>
          <p:nvPr/>
        </p:nvSpPr>
        <p:spPr>
          <a:xfrm>
            <a:off x="11146536" y="6238242"/>
            <a:ext cx="23774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4EC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LIMITS AND NEXT STEPS</a:t>
            </a:r>
            <a:endParaRPr lang="en-US" sz="1200" dirty="0"/>
          </a:p>
        </p:txBody>
      </p:sp>
      <p:sp>
        <p:nvSpPr>
          <p:cNvPr id="3" name="Text 1"/>
          <p:cNvSpPr/>
          <p:nvPr>
            <p:ph type="title"/>
          </p:nvPr>
        </p:nvSpPr>
        <p:spPr>
          <a:xfrm>
            <a:off x="812782" y="1127751"/>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What the numbers don't show yet</a:t>
            </a:r>
            <a:endParaRPr lang="en-US" sz="3600" dirty="0"/>
          </a:p>
        </p:txBody>
      </p:sp>
      <p:sp>
        <p:nvSpPr>
          <p:cNvPr id="4" name="Shape 2"/>
          <p:cNvSpPr/>
          <p:nvPr/>
        </p:nvSpPr>
        <p:spPr>
          <a:xfrm>
            <a:off x="812782" y="1884611"/>
            <a:ext cx="5158563" cy="3957385"/>
          </a:xfrm>
          <a:prstGeom prst="roundRect">
            <a:avLst>
              <a:gd name="adj" fmla="val 2567"/>
            </a:avLst>
          </a:prstGeom>
          <a:solidFill>
            <a:srgbClr val="FBFCFA"/>
          </a:solidFill>
          <a:ln/>
        </p:spPr>
      </p:sp>
      <p:sp>
        <p:nvSpPr>
          <p:cNvPr id="5" name="Text 3"/>
          <p:cNvSpPr/>
          <p:nvPr/>
        </p:nvSpPr>
        <p:spPr>
          <a:xfrm>
            <a:off x="1117564" y="2138611"/>
            <a:ext cx="4685469"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Limits</a:t>
            </a:r>
            <a:endParaRPr lang="en-US" sz="2200" dirty="0"/>
          </a:p>
        </p:txBody>
      </p:sp>
      <p:sp>
        <p:nvSpPr>
          <p:cNvPr id="6" name="Text 4"/>
          <p:cNvSpPr/>
          <p:nvPr/>
        </p:nvSpPr>
        <p:spPr>
          <a:xfrm>
            <a:off x="1195796" y="2600883"/>
            <a:ext cx="4599617" cy="1518552"/>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Precision unknown</a:t>
            </a:r>
            <a:r>
              <a:rPr lang="en-US" sz="1400" dirty="0">
                <a:solidFill>
                  <a:srgbClr val="46566A"/>
                </a:solidFill>
                <a:latin typeface="IBM Plex Sans" pitchFamily="34" charset="0"/>
                <a:ea typeface="IBM Plex Sans" pitchFamily="34" charset="-122"/>
                <a:cs typeface="IBM Plex Sans" pitchFamily="34" charset="-120"/>
              </a:rPr>
              <a:t> for both: unlabelled detections may be bergs, boats or clutter</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One month of one year:</a:t>
            </a:r>
            <a:r>
              <a:rPr lang="en-US" sz="1400" dirty="0">
                <a:solidFill>
                  <a:srgbClr val="46566A"/>
                </a:solidFill>
                <a:latin typeface="IBM Plex Sans" pitchFamily="34" charset="0"/>
                <a:ea typeface="IBM Plex Sans" pitchFamily="34" charset="-122"/>
                <a:cs typeface="IBM Plex Sans" pitchFamily="34" charset="-120"/>
              </a:rPr>
              <a:t> April 2019, 512 bergs</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THOR needs the pipeline:</a:t>
            </a:r>
            <a:r>
              <a:rPr lang="en-US" sz="1400" dirty="0">
                <a:solidFill>
                  <a:srgbClr val="46566A"/>
                </a:solidFill>
                <a:latin typeface="IBM Plex Sans" pitchFamily="34" charset="0"/>
                <a:ea typeface="IBM Plex Sans" pitchFamily="34" charset="-122"/>
                <a:cs typeface="IBM Plex Sans" pitchFamily="34" charset="-120"/>
              </a:rPr>
              <a:t> the pack-ice mask, and a GPU</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Small bergs:</a:t>
            </a:r>
            <a:r>
              <a:rPr lang="en-US" sz="1400" dirty="0">
                <a:solidFill>
                  <a:srgbClr val="46566A"/>
                </a:solidFill>
                <a:latin typeface="IBM Plex Sans" pitchFamily="34" charset="0"/>
                <a:ea typeface="IBM Plex Sans" pitchFamily="34" charset="-122"/>
                <a:cs typeface="IBM Plex Sans" pitchFamily="34" charset="-120"/>
              </a:rPr>
              <a:t> a tie at 0.71</a:t>
            </a:r>
            <a:endParaRPr lang="en-US" sz="1400" dirty="0"/>
          </a:p>
        </p:txBody>
      </p:sp>
      <p:sp>
        <p:nvSpPr>
          <p:cNvPr id="7" name="Shape 5"/>
          <p:cNvSpPr/>
          <p:nvPr/>
        </p:nvSpPr>
        <p:spPr>
          <a:xfrm>
            <a:off x="6174473" y="1884611"/>
            <a:ext cx="5204745" cy="3957385"/>
          </a:xfrm>
          <a:prstGeom prst="roundRect">
            <a:avLst>
              <a:gd name="adj" fmla="val 2567"/>
            </a:avLst>
          </a:prstGeom>
          <a:solidFill>
            <a:srgbClr val="FBFCFA"/>
          </a:solidFill>
          <a:ln/>
        </p:spPr>
      </p:sp>
      <p:sp>
        <p:nvSpPr>
          <p:cNvPr id="8" name="Shape 6"/>
          <p:cNvSpPr/>
          <p:nvPr/>
        </p:nvSpPr>
        <p:spPr>
          <a:xfrm>
            <a:off x="6174473" y="1884611"/>
            <a:ext cx="5204745" cy="3957385"/>
          </a:xfrm>
          <a:custGeom>
            <a:avLst/>
            <a:gdLst/>
            <a:ahLst/>
            <a:cxnLst/>
            <a:rect l="l" t="t" r="r" b="b"/>
            <a:pathLst>
              <a:path w="5204745" h="3957385">
                <a:moveTo>
                  <a:pt x="101600" y="3957385"/>
                </a:moveTo>
                <a:lnTo>
                  <a:pt x="101600" y="3957385"/>
                </a:lnTo>
                <a:arcTo hR="101600" wR="101600" stAng="5400000" swAng="5400000"/>
                <a:lnTo>
                  <a:pt x="0" y="101600"/>
                </a:lnTo>
                <a:arcTo hR="101600" wR="101600" stAng="10800000" swAng="5400000"/>
                <a:lnTo>
                  <a:pt x="101600" y="0"/>
                </a:lnTo>
                <a:arcTo hR="101600" wR="50800" stAng="16200000" swAng="-5400000"/>
                <a:lnTo>
                  <a:pt x="50800" y="3855785"/>
                </a:lnTo>
                <a:arcTo hR="101600" wR="50800" stAng="10800000" swAng="-5400000"/>
                <a:close/>
              </a:path>
            </a:pathLst>
          </a:custGeom>
          <a:solidFill>
            <a:srgbClr val="A84B1A"/>
          </a:solidFill>
          <a:ln/>
        </p:spPr>
      </p:sp>
      <p:sp>
        <p:nvSpPr>
          <p:cNvPr id="9" name="Text 7"/>
          <p:cNvSpPr/>
          <p:nvPr/>
        </p:nvSpPr>
        <p:spPr>
          <a:xfrm>
            <a:off x="6525437" y="2138611"/>
            <a:ext cx="4685469"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Next</a:t>
            </a:r>
            <a:endParaRPr lang="en-US" sz="2200" dirty="0"/>
          </a:p>
        </p:txBody>
      </p:sp>
      <p:sp>
        <p:nvSpPr>
          <p:cNvPr id="10" name="Text 8"/>
          <p:cNvSpPr/>
          <p:nvPr/>
        </p:nvSpPr>
        <p:spPr>
          <a:xfrm>
            <a:off x="6603669" y="2600883"/>
            <a:ext cx="4599617" cy="1767411"/>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AIS ship positions</a:t>
            </a:r>
            <a:r>
              <a:rPr lang="en-US" sz="1400" dirty="0">
                <a:solidFill>
                  <a:srgbClr val="46566A"/>
                </a:solidFill>
                <a:latin typeface="IBM Plex Sans" pitchFamily="34" charset="0"/>
                <a:ea typeface="IBM Plex Sans" pitchFamily="34" charset="-122"/>
                <a:cs typeface="IBM Plex Sans" pitchFamily="34" charset="-120"/>
              </a:rPr>
              <a:t> for the test passes, to measure precision</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THOR at 4×4 patches</a:t>
            </a:r>
            <a:r>
              <a:rPr lang="en-US" sz="1400" dirty="0">
                <a:solidFill>
                  <a:srgbClr val="46566A"/>
                </a:solidFill>
                <a:latin typeface="IBM Plex Sans" pitchFamily="34" charset="0"/>
                <a:ea typeface="IBM Plex Sans" pitchFamily="34" charset="-122"/>
                <a:cs typeface="IBM Plex Sans" pitchFamily="34" charset="-120"/>
              </a:rPr>
              <a:t> for small bergs</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THOR in the one-command run</a:t>
            </a:r>
            <a:r>
              <a:rPr lang="en-US" sz="1400" dirty="0">
                <a:solidFill>
                  <a:srgbClr val="46566A"/>
                </a:solidFill>
                <a:latin typeface="IBM Plex Sans" pitchFamily="34" charset="0"/>
                <a:ea typeface="IBM Plex Sans" pitchFamily="34" charset="-122"/>
                <a:cs typeface="IBM Plex Sans" pitchFamily="34" charset="-120"/>
              </a:rPr>
              <a:t> and as the viewer's main layer</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More years</a:t>
            </a:r>
            <a:r>
              <a:rPr lang="en-US" sz="1400" dirty="0">
                <a:solidFill>
                  <a:srgbClr val="46566A"/>
                </a:solidFill>
                <a:latin typeface="IBM Plex Sans" pitchFamily="34" charset="0"/>
                <a:ea typeface="IBM Plex Sans" pitchFamily="34" charset="-122"/>
                <a:cs typeface="IBM Plex Sans" pitchFamily="34" charset="-120"/>
              </a:rPr>
              <a:t> and near-range passes</a:t>
            </a:r>
            <a:endParaRPr lang="en-US" sz="1400" dirty="0"/>
          </a:p>
        </p:txBody>
      </p:sp>
      <p:sp>
        <p:nvSpPr>
          <p:cNvPr id="11" name="Text 9"/>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2" name="Text 10"/>
          <p:cNvSpPr/>
          <p:nvPr/>
        </p:nvSpPr>
        <p:spPr>
          <a:xfrm>
            <a:off x="11146536" y="6238242"/>
            <a:ext cx="23774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BUILD</a:t>
            </a:r>
            <a:endParaRPr lang="en-US" sz="1200" dirty="0"/>
          </a:p>
        </p:txBody>
      </p:sp>
      <p:sp>
        <p:nvSpPr>
          <p:cNvPr id="3" name="Text 1"/>
          <p:cNvSpPr/>
          <p:nvPr>
            <p:ph type="title"/>
          </p:nvPr>
        </p:nvSpPr>
        <p:spPr>
          <a:xfrm>
            <a:off x="812782" y="1127751"/>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Two commands, end to end</a:t>
            </a:r>
            <a:endParaRPr lang="en-US" sz="3600" dirty="0"/>
          </a:p>
        </p:txBody>
      </p:sp>
      <p:sp>
        <p:nvSpPr>
          <p:cNvPr id="4" name="Text 2"/>
          <p:cNvSpPr/>
          <p:nvPr/>
        </p:nvSpPr>
        <p:spPr>
          <a:xfrm>
            <a:off x="812782" y="1884611"/>
            <a:ext cx="10566436" cy="983351"/>
          </a:xfrm>
          <a:prstGeom prst="roundRect">
            <a:avLst>
              <a:gd name="adj" fmla="val 11032"/>
            </a:avLst>
          </a:prstGeom>
          <a:solidFill>
            <a:srgbClr val="0E2233"/>
          </a:solidFill>
          <a:ln/>
        </p:spPr>
        <p:txBody>
          <a:bodyPr wrap="square" lIns="231682" tIns="180882" rIns="0" bIns="155482" rtlCol="0" anchor="t">
            <a:normAutofit/>
          </a:bodyPr>
          <a:lstStyle/>
          <a:p>
            <a:pPr algn="l" indent="0" marL="0">
              <a:lnSpc>
                <a:spcPts val="2240"/>
              </a:lnSpc>
              <a:buNone/>
            </a:pPr>
            <a:r>
              <a:rPr lang="en-US" sz="1600" dirty="0">
                <a:solidFill>
                  <a:srgbClr val="EEF2F0"/>
                </a:solidFill>
                <a:latin typeface="Courier New" pitchFamily="49" charset="0"/>
                <a:ea typeface="Courier New" pitchFamily="49" charset="-122"/>
                <a:cs typeface="Courier New" pitchFamily="49" charset="-120"/>
              </a:rPr>
              <a:t>python -m iceberg_sar.cli run --start 2025-05-01 --end 2025-05-15</a:t>
            </a:r>
            <a:endParaRPr lang="en-US" sz="1600" dirty="0"/>
          </a:p>
          <a:p>
            <a:pPr algn="l" indent="0" marL="0">
              <a:lnSpc>
                <a:spcPts val="2240"/>
              </a:lnSpc>
              <a:buNone/>
            </a:pPr>
            <a:r>
              <a:rPr lang="en-US" sz="1600" dirty="0">
                <a:solidFill>
                  <a:srgbClr val="EEF2F0"/>
                </a:solidFill>
                <a:latin typeface="Courier New" pitchFamily="49" charset="0"/>
                <a:ea typeface="Courier New" pitchFamily="49" charset="-122"/>
                <a:cs typeface="Courier New" pitchFamily="49" charset="-120"/>
              </a:rPr>
              <a:t>python -m iceberg_sar.cli thor-detect data/raw/&lt;scene&gt;</a:t>
            </a:r>
            <a:endParaRPr lang="en-US" sz="1600" dirty="0"/>
          </a:p>
        </p:txBody>
      </p:sp>
      <p:sp>
        <p:nvSpPr>
          <p:cNvPr id="5" name="Shape 3"/>
          <p:cNvSpPr/>
          <p:nvPr/>
        </p:nvSpPr>
        <p:spPr>
          <a:xfrm>
            <a:off x="815957" y="3125136"/>
            <a:ext cx="2520932" cy="1158208"/>
          </a:xfrm>
          <a:prstGeom prst="roundRect">
            <a:avLst>
              <a:gd name="adj" fmla="val 6305"/>
            </a:avLst>
          </a:prstGeom>
          <a:solidFill>
            <a:srgbClr val="FBFCFA"/>
          </a:solidFill>
          <a:ln w="6350">
            <a:solidFill>
              <a:srgbClr val="D5DEE0"/>
            </a:solidFill>
            <a:prstDash val="solid"/>
          </a:ln>
        </p:spPr>
      </p:sp>
      <p:sp>
        <p:nvSpPr>
          <p:cNvPr id="6" name="Text 4"/>
          <p:cNvSpPr/>
          <p:nvPr/>
        </p:nvSpPr>
        <p:spPr>
          <a:xfrm>
            <a:off x="1021683" y="3330866"/>
            <a:ext cx="2172765"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Processing</a:t>
            </a:r>
            <a:endParaRPr lang="en-US" sz="1600" dirty="0"/>
          </a:p>
        </p:txBody>
      </p:sp>
      <p:sp>
        <p:nvSpPr>
          <p:cNvPr id="7" name="Text 5"/>
          <p:cNvSpPr/>
          <p:nvPr/>
        </p:nvSpPr>
        <p:spPr>
          <a:xfrm>
            <a:off x="1021683" y="3650797"/>
            <a:ext cx="2172765" cy="4522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Python 3.11, NumPy, SciPy, rasterio, GeoPandas</a:t>
            </a:r>
            <a:endParaRPr lang="en-US" sz="1200" dirty="0"/>
          </a:p>
        </p:txBody>
      </p:sp>
      <p:sp>
        <p:nvSpPr>
          <p:cNvPr id="8" name="Shape 6"/>
          <p:cNvSpPr/>
          <p:nvPr/>
        </p:nvSpPr>
        <p:spPr>
          <a:xfrm>
            <a:off x="3495585" y="3125136"/>
            <a:ext cx="2521022" cy="1158208"/>
          </a:xfrm>
          <a:prstGeom prst="roundRect">
            <a:avLst>
              <a:gd name="adj" fmla="val 6305"/>
            </a:avLst>
          </a:prstGeom>
          <a:solidFill>
            <a:srgbClr val="FBFCFA"/>
          </a:solidFill>
          <a:ln w="6350">
            <a:solidFill>
              <a:srgbClr val="D5DEE0"/>
            </a:solidFill>
            <a:prstDash val="solid"/>
          </a:ln>
        </p:spPr>
      </p:sp>
      <p:sp>
        <p:nvSpPr>
          <p:cNvPr id="9" name="Text 7"/>
          <p:cNvSpPr/>
          <p:nvPr/>
        </p:nvSpPr>
        <p:spPr>
          <a:xfrm>
            <a:off x="3701310" y="3330866"/>
            <a:ext cx="2172858"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Model</a:t>
            </a:r>
            <a:endParaRPr lang="en-US" sz="1600" dirty="0"/>
          </a:p>
        </p:txBody>
      </p:sp>
      <p:sp>
        <p:nvSpPr>
          <p:cNvPr id="10" name="Text 8"/>
          <p:cNvSpPr/>
          <p:nvPr/>
        </p:nvSpPr>
        <p:spPr>
          <a:xfrm>
            <a:off x="3701310" y="3650797"/>
            <a:ext cx="2172858" cy="4522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THOR Tiny via TerraTorch, PyTorch, CUDA GPU</a:t>
            </a:r>
            <a:endParaRPr lang="en-US" sz="1200" dirty="0"/>
          </a:p>
        </p:txBody>
      </p:sp>
      <p:sp>
        <p:nvSpPr>
          <p:cNvPr id="11" name="Shape 9"/>
          <p:cNvSpPr/>
          <p:nvPr/>
        </p:nvSpPr>
        <p:spPr>
          <a:xfrm>
            <a:off x="6175303" y="3125136"/>
            <a:ext cx="2521022" cy="1158208"/>
          </a:xfrm>
          <a:prstGeom prst="roundRect">
            <a:avLst>
              <a:gd name="adj" fmla="val 6305"/>
            </a:avLst>
          </a:prstGeom>
          <a:solidFill>
            <a:srgbClr val="FBFCFA"/>
          </a:solidFill>
          <a:ln w="6350">
            <a:solidFill>
              <a:srgbClr val="D5DEE0"/>
            </a:solidFill>
            <a:prstDash val="solid"/>
          </a:ln>
        </p:spPr>
      </p:sp>
      <p:sp>
        <p:nvSpPr>
          <p:cNvPr id="12" name="Text 10"/>
          <p:cNvSpPr/>
          <p:nvPr/>
        </p:nvSpPr>
        <p:spPr>
          <a:xfrm>
            <a:off x="6381028" y="3330866"/>
            <a:ext cx="2172858"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Viewer</a:t>
            </a:r>
            <a:endParaRPr lang="en-US" sz="1600" dirty="0"/>
          </a:p>
        </p:txBody>
      </p:sp>
      <p:sp>
        <p:nvSpPr>
          <p:cNvPr id="13" name="Text 11"/>
          <p:cNvSpPr/>
          <p:nvPr/>
        </p:nvSpPr>
        <p:spPr>
          <a:xfrm>
            <a:off x="6381028" y="3650797"/>
            <a:ext cx="2172858" cy="4522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Vue 3, CesiumJS, CZML, deployed by GitHub Actions</a:t>
            </a:r>
            <a:endParaRPr lang="en-US" sz="1200" dirty="0"/>
          </a:p>
        </p:txBody>
      </p:sp>
      <p:sp>
        <p:nvSpPr>
          <p:cNvPr id="14" name="Shape 12"/>
          <p:cNvSpPr/>
          <p:nvPr/>
        </p:nvSpPr>
        <p:spPr>
          <a:xfrm>
            <a:off x="8855021" y="3125136"/>
            <a:ext cx="2521022" cy="1158208"/>
          </a:xfrm>
          <a:prstGeom prst="roundRect">
            <a:avLst>
              <a:gd name="adj" fmla="val 6305"/>
            </a:avLst>
          </a:prstGeom>
          <a:solidFill>
            <a:srgbClr val="FBFCFA"/>
          </a:solidFill>
          <a:ln w="6350">
            <a:solidFill>
              <a:srgbClr val="D5DEE0"/>
            </a:solidFill>
            <a:prstDash val="solid"/>
          </a:ln>
        </p:spPr>
      </p:sp>
      <p:sp>
        <p:nvSpPr>
          <p:cNvPr id="15" name="Text 13"/>
          <p:cNvSpPr/>
          <p:nvPr/>
        </p:nvSpPr>
        <p:spPr>
          <a:xfrm>
            <a:off x="9060746" y="3330866"/>
            <a:ext cx="2172858" cy="26920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2233"/>
                </a:solidFill>
                <a:latin typeface="IBM Plex Sans" pitchFamily="34" charset="0"/>
                <a:ea typeface="IBM Plex Sans" pitchFamily="34" charset="-122"/>
                <a:cs typeface="IBM Plex Sans" pitchFamily="34" charset="-120"/>
              </a:rPr>
              <a:t>Quality</a:t>
            </a:r>
            <a:endParaRPr lang="en-US" sz="1600" dirty="0"/>
          </a:p>
        </p:txBody>
      </p:sp>
      <p:sp>
        <p:nvSpPr>
          <p:cNvPr id="16" name="Text 14"/>
          <p:cNvSpPr/>
          <p:nvPr/>
        </p:nvSpPr>
        <p:spPr>
          <a:xfrm>
            <a:off x="9060746" y="3650797"/>
            <a:ext cx="2172858" cy="4522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66A"/>
                </a:solidFill>
                <a:latin typeface="IBM Plex Sans" pitchFamily="34" charset="0"/>
                <a:ea typeface="IBM Plex Sans" pitchFamily="34" charset="-122"/>
                <a:cs typeface="IBM Plex Sans" pitchFamily="34" charset="-120"/>
              </a:rPr>
              <a:t>153 pytest tests, all parameters in config.yaml</a:t>
            </a:r>
            <a:endParaRPr lang="en-US" sz="1200" dirty="0"/>
          </a:p>
        </p:txBody>
      </p:sp>
      <p:sp>
        <p:nvSpPr>
          <p:cNvPr id="17" name="Text 15"/>
          <p:cNvSpPr/>
          <p:nvPr/>
        </p:nvSpPr>
        <p:spPr>
          <a:xfrm>
            <a:off x="812782" y="4540522"/>
            <a:ext cx="10883429" cy="59437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run searches, orders HyP3 processing, masks and runs the baseline; thor-detect adds THOR. Then publish and git push update the live viewer.</a:t>
            </a:r>
            <a:endParaRPr lang="en-US" sz="1600" dirty="0"/>
          </a:p>
        </p:txBody>
      </p:sp>
      <p:sp>
        <p:nvSpPr>
          <p:cNvPr id="18" name="Text 16"/>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9" name="Text 17"/>
          <p:cNvSpPr/>
          <p:nvPr/>
        </p:nvSpPr>
        <p:spPr>
          <a:xfrm>
            <a:off x="11146536" y="6238242"/>
            <a:ext cx="23774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233"/>
        </a:solidFill>
      </p:bgPr>
    </p:bg>
    <p:spTree>
      <p:nvGrpSpPr>
        <p:cNvPr id="1" name=""/>
        <p:cNvGrpSpPr/>
        <p:nvPr/>
      </p:nvGrpSpPr>
      <p:grpSpPr>
        <a:xfrm>
          <a:off x="0" y="0"/>
          <a:ext cx="0" cy="0"/>
          <a:chOff x="0" y="0"/>
          <a:chExt cx="0" cy="0"/>
        </a:xfrm>
      </p:grpSpPr>
      <p:sp>
        <p:nvSpPr>
          <p:cNvPr id="2" name="Text 0"/>
          <p:cNvSpPr/>
          <p:nvPr/>
        </p:nvSpPr>
        <p:spPr>
          <a:xfrm>
            <a:off x="812782" y="2029383"/>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2A766"/>
                </a:solidFill>
                <a:latin typeface="IBM Plex Sans" pitchFamily="34" charset="0"/>
                <a:ea typeface="IBM Plex Sans" pitchFamily="34" charset="-122"/>
                <a:cs typeface="IBM Plex Sans" pitchFamily="34" charset="-120"/>
              </a:rPr>
              <a:t>THANK YOU</a:t>
            </a:r>
            <a:endParaRPr lang="en-US" sz="1200" dirty="0"/>
          </a:p>
        </p:txBody>
      </p:sp>
      <p:sp>
        <p:nvSpPr>
          <p:cNvPr id="3" name="Text 1"/>
          <p:cNvSpPr/>
          <p:nvPr>
            <p:ph type="title"/>
          </p:nvPr>
        </p:nvSpPr>
        <p:spPr>
          <a:xfrm>
            <a:off x="812782" y="2496790"/>
            <a:ext cx="10883429" cy="825464"/>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4F6F3"/>
                </a:solidFill>
                <a:latin typeface="Source Serif 4" pitchFamily="18" charset="0"/>
                <a:ea typeface="Source Serif 4" pitchFamily="18" charset="-122"/>
                <a:cs typeface="Source Serif 4" pitchFamily="18" charset="-120"/>
              </a:rPr>
              <a:t>Questions?</a:t>
            </a:r>
            <a:endParaRPr lang="en-US" sz="6000" dirty="0"/>
          </a:p>
        </p:txBody>
      </p:sp>
      <p:sp>
        <p:nvSpPr>
          <p:cNvPr id="4" name="Text 2"/>
          <p:cNvSpPr/>
          <p:nvPr/>
        </p:nvSpPr>
        <p:spPr>
          <a:xfrm>
            <a:off x="812782" y="3550853"/>
            <a:ext cx="10883429" cy="38863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FD3DB"/>
                </a:solidFill>
                <a:latin typeface="IBM Plex Sans" pitchFamily="34" charset="0"/>
                <a:ea typeface="IBM Plex Sans" pitchFamily="34" charset="-122"/>
                <a:cs typeface="IBM Plex Sans" pitchFamily="34" charset="-120"/>
              </a:rPr>
              <a:t>Natali Kovalski · </a:t>
            </a:r>
            <a:r>
              <a:rPr lang="en-US" sz="2200" u="sng" dirty="0">
                <a:solidFill>
                  <a:srgbClr val="F2A76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github.com/natali-kovalski/iceberg-alley-sar</a:t>
            </a:r>
            <a:endParaRPr lang="en-US" sz="2200" dirty="0"/>
          </a:p>
        </p:txBody>
      </p:sp>
      <p:sp>
        <p:nvSpPr>
          <p:cNvPr id="5" name="Text 3"/>
          <p:cNvSpPr/>
          <p:nvPr/>
        </p:nvSpPr>
        <p:spPr>
          <a:xfrm>
            <a:off x="812782" y="4168087"/>
            <a:ext cx="9810750" cy="482708"/>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FB4BE"/>
                </a:solidFill>
                <a:latin typeface="IBM Plex Sans" pitchFamily="34" charset="0"/>
                <a:ea typeface="IBM Plex Sans" pitchFamily="34" charset="-122"/>
                <a:cs typeface="IBM Plex Sans" pitchFamily="34" charset="-120"/>
              </a:rPr>
              <a:t>Live demo: natali-kovalski.github.io/iceberg-alley-sar. Contains modified Copernicus Sentinel data (2019–2026). Iceberg data: International Ice Patrol (NSIDC G00807) and the North American Ice Service. THOR: FM4CS (Apache 2.0); Forgaard et al., IGARSS 2026. Land polygons © OpenStreetMap contributors.</a:t>
            </a:r>
            <a:endParaRPr lang="en-US" sz="12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3"/>
        </a:solidFill>
      </p:bgPr>
    </p:bg>
    <p:spTree>
      <p:nvGrpSpPr>
        <p:cNvPr id="1" name=""/>
        <p:cNvGrpSpPr/>
        <p:nvPr/>
      </p:nvGrpSpPr>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THE DETECTOR</a:t>
            </a:r>
            <a:endParaRPr lang="en-US" sz="1200" dirty="0"/>
          </a:p>
        </p:txBody>
      </p:sp>
      <p:sp>
        <p:nvSpPr>
          <p:cNvPr id="3" name="Text 1"/>
          <p:cNvSpPr/>
          <p:nvPr>
            <p:ph type="title"/>
          </p:nvPr>
        </p:nvSpPr>
        <p:spPr>
          <a:xfrm>
            <a:off x="812782" y="1127756"/>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A frozen foundation model, a tiny head</a:t>
            </a:r>
            <a:endParaRPr lang="en-US" sz="3600" dirty="0"/>
          </a:p>
        </p:txBody>
      </p:sp>
      <p:sp>
        <p:nvSpPr>
          <p:cNvPr id="4" name="Shape 2"/>
          <p:cNvSpPr/>
          <p:nvPr/>
        </p:nvSpPr>
        <p:spPr>
          <a:xfrm>
            <a:off x="815957" y="1938572"/>
            <a:ext cx="3380347" cy="3900253"/>
          </a:xfrm>
          <a:prstGeom prst="roundRect">
            <a:avLst>
              <a:gd name="adj" fmla="val 2912"/>
            </a:avLst>
          </a:prstGeom>
          <a:solidFill>
            <a:srgbClr val="FBFCFA"/>
          </a:solidFill>
          <a:ln w="6350">
            <a:solidFill>
              <a:srgbClr val="D5DEE0"/>
            </a:solidFill>
            <a:prstDash val="solid"/>
          </a:ln>
        </p:spPr>
      </p:sp>
      <p:sp>
        <p:nvSpPr>
          <p:cNvPr id="5" name="Text 3"/>
          <p:cNvSpPr/>
          <p:nvPr/>
        </p:nvSpPr>
        <p:spPr>
          <a:xfrm>
            <a:off x="1123337" y="2245951"/>
            <a:ext cx="284855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01</a:t>
            </a:r>
            <a:endParaRPr lang="en-US" sz="1200" dirty="0"/>
          </a:p>
        </p:txBody>
      </p:sp>
      <p:sp>
        <p:nvSpPr>
          <p:cNvPr id="6" name="Text 4"/>
          <p:cNvSpPr/>
          <p:nvPr/>
        </p:nvSpPr>
        <p:spPr>
          <a:xfrm>
            <a:off x="1123337" y="2586362"/>
            <a:ext cx="2848555"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Frozen encoder</a:t>
            </a:r>
            <a:endParaRPr lang="en-US" sz="2200" dirty="0"/>
          </a:p>
        </p:txBody>
      </p:sp>
      <p:sp>
        <p:nvSpPr>
          <p:cNvPr id="7" name="Text 5"/>
          <p:cNvSpPr/>
          <p:nvPr/>
        </p:nvSpPr>
        <p:spPr>
          <a:xfrm>
            <a:off x="1123337" y="3048631"/>
            <a:ext cx="2848555" cy="1447836"/>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THOR Tiny (FM4CS, Apache 2.0), pretrained on Sentinel-1 sigma0. It takes HH/HV natively and is never fine-tuned.</a:t>
            </a:r>
            <a:endParaRPr lang="en-US" sz="1600" dirty="0"/>
          </a:p>
        </p:txBody>
      </p:sp>
      <p:sp>
        <p:nvSpPr>
          <p:cNvPr id="8" name="Shape 6"/>
          <p:cNvSpPr/>
          <p:nvPr/>
        </p:nvSpPr>
        <p:spPr>
          <a:xfrm>
            <a:off x="4405781" y="1938572"/>
            <a:ext cx="3380437" cy="3900253"/>
          </a:xfrm>
          <a:prstGeom prst="roundRect">
            <a:avLst>
              <a:gd name="adj" fmla="val 2912"/>
            </a:avLst>
          </a:prstGeom>
          <a:solidFill>
            <a:srgbClr val="FBFCFA"/>
          </a:solidFill>
          <a:ln w="6350">
            <a:solidFill>
              <a:srgbClr val="D5DEE0"/>
            </a:solidFill>
            <a:prstDash val="solid"/>
          </a:ln>
        </p:spPr>
      </p:sp>
      <p:sp>
        <p:nvSpPr>
          <p:cNvPr id="9" name="Text 7"/>
          <p:cNvSpPr/>
          <p:nvPr/>
        </p:nvSpPr>
        <p:spPr>
          <a:xfrm>
            <a:off x="4713161" y="2245951"/>
            <a:ext cx="2848648"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02</a:t>
            </a:r>
            <a:endParaRPr lang="en-US" sz="1200" dirty="0"/>
          </a:p>
        </p:txBody>
      </p:sp>
      <p:sp>
        <p:nvSpPr>
          <p:cNvPr id="10" name="Text 8"/>
          <p:cNvSpPr/>
          <p:nvPr/>
        </p:nvSpPr>
        <p:spPr>
          <a:xfrm>
            <a:off x="4713161" y="2586362"/>
            <a:ext cx="2848648"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769-parameter head</a:t>
            </a:r>
            <a:endParaRPr lang="en-US" sz="2200" dirty="0"/>
          </a:p>
        </p:txBody>
      </p:sp>
      <p:sp>
        <p:nvSpPr>
          <p:cNvPr id="11" name="Text 9"/>
          <p:cNvSpPr/>
          <p:nvPr/>
        </p:nvSpPr>
        <p:spPr>
          <a:xfrm>
            <a:off x="4713161" y="3048631"/>
            <a:ext cx="2848648" cy="1163349"/>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A linear layer on cached features turns them into an iceberg heatmap. Training takes minutes on a laptop GPU.</a:t>
            </a:r>
            <a:endParaRPr lang="en-US" sz="1600" dirty="0"/>
          </a:p>
        </p:txBody>
      </p:sp>
      <p:sp>
        <p:nvSpPr>
          <p:cNvPr id="12" name="Shape 10"/>
          <p:cNvSpPr/>
          <p:nvPr/>
        </p:nvSpPr>
        <p:spPr>
          <a:xfrm>
            <a:off x="7995696" y="1938572"/>
            <a:ext cx="3380347" cy="3900253"/>
          </a:xfrm>
          <a:prstGeom prst="roundRect">
            <a:avLst>
              <a:gd name="adj" fmla="val 2912"/>
            </a:avLst>
          </a:prstGeom>
          <a:solidFill>
            <a:srgbClr val="FBFCFA"/>
          </a:solidFill>
          <a:ln w="6350">
            <a:solidFill>
              <a:srgbClr val="D5DEE0"/>
            </a:solidFill>
            <a:prstDash val="solid"/>
          </a:ln>
        </p:spPr>
      </p:sp>
      <p:sp>
        <p:nvSpPr>
          <p:cNvPr id="13" name="Text 11"/>
          <p:cNvSpPr/>
          <p:nvPr/>
        </p:nvSpPr>
        <p:spPr>
          <a:xfrm>
            <a:off x="8303075" y="2245951"/>
            <a:ext cx="284855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03</a:t>
            </a:r>
            <a:endParaRPr lang="en-US" sz="1200" dirty="0"/>
          </a:p>
        </p:txBody>
      </p:sp>
      <p:sp>
        <p:nvSpPr>
          <p:cNvPr id="14" name="Text 12"/>
          <p:cNvSpPr/>
          <p:nvPr/>
        </p:nvSpPr>
        <p:spPr>
          <a:xfrm>
            <a:off x="8303075" y="2586362"/>
            <a:ext cx="2848555"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Same masks</a:t>
            </a:r>
            <a:endParaRPr lang="en-US" sz="2200" dirty="0"/>
          </a:p>
        </p:txBody>
      </p:sp>
      <p:sp>
        <p:nvSpPr>
          <p:cNvPr id="15" name="Text 13"/>
          <p:cNvSpPr/>
          <p:nvPr/>
        </p:nvSpPr>
        <p:spPr>
          <a:xfrm>
            <a:off x="8303075" y="3048631"/>
            <a:ext cx="2848555" cy="1163349"/>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Peaks must fall on the classical masked raster. Output is the CFAR's GeoJSON schema, plus a score.</a:t>
            </a:r>
            <a:endParaRPr lang="en-US" sz="1600" dirty="0"/>
          </a:p>
        </p:txBody>
      </p:sp>
      <p:sp>
        <p:nvSpPr>
          <p:cNvPr id="16" name="Text 14"/>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17" name="Text 15"/>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3"/>
        </a:solidFill>
      </p:bgPr>
    </p:bg>
    <p:spTree>
      <p:nvGrpSpPr>
        <p:cNvPr id="1" name=""/>
        <p:cNvGrpSpPr/>
        <p:nvPr/>
      </p:nvGrpSpPr>
      <p:grpSpPr/>
      <p:sp>
        <p:nvSpPr>
          <p:cNvPr id="2" name="Text 0"/>
          <p:cNvSpPr/>
          <p:nvPr/>
        </p:nvSpPr>
        <p:spPr>
          <a:xfrm>
            <a:off x="812782" y="1518949"/>
            <a:ext cx="4447540"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TRAINING</a:t>
            </a:r>
            <a:endParaRPr lang="en-US" sz="1200" dirty="0"/>
          </a:p>
        </p:txBody>
      </p:sp>
      <p:sp>
        <p:nvSpPr>
          <p:cNvPr id="3" name="Text 1"/>
          <p:cNvSpPr/>
          <p:nvPr>
            <p:ph type="title"/>
          </p:nvPr>
        </p:nvSpPr>
        <p:spPr>
          <a:xfrm>
            <a:off x="812782" y="1935485"/>
            <a:ext cx="4447540" cy="103111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Learned from Ice Patrol labels</a:t>
            </a:r>
            <a:endParaRPr lang="en-US" sz="3600" dirty="0"/>
          </a:p>
        </p:txBody>
      </p:sp>
      <p:sp>
        <p:nvSpPr>
          <p:cNvPr id="4" name="Text 2"/>
          <p:cNvSpPr/>
          <p:nvPr/>
        </p:nvSpPr>
        <p:spPr>
          <a:xfrm>
            <a:off x="870440" y="3144332"/>
            <a:ext cx="4382262" cy="2016810"/>
          </a:xfrm>
          <a:prstGeom prst="rect">
            <a:avLst/>
          </a:prstGeom>
          <a:noFill/>
          <a:ln/>
        </p:spPr>
        <p:txBody>
          <a:bodyPr wrap="square" lIns="0" tIns="0" rIns="0" bIns="0" rtlCol="0" anchor="t">
            <a:normAutofit/>
          </a:bodyPr>
          <a:lstStyle/>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Labels:</a:t>
            </a:r>
            <a:r>
              <a:rPr lang="en-US" sz="1600" dirty="0">
                <a:solidFill>
                  <a:srgbClr val="46566A"/>
                </a:solidFill>
                <a:latin typeface="IBM Plex Sans" pitchFamily="34" charset="0"/>
                <a:ea typeface="IBM Plex Sans" pitchFamily="34" charset="-122"/>
                <a:cs typeface="IBM Plex Sans" pitchFamily="34" charset="-120"/>
              </a:rPr>
              <a:t> IIP analysts' berg positions on the same pass</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Data:</a:t>
            </a:r>
            <a:r>
              <a:rPr lang="en-US" sz="1600" dirty="0">
                <a:solidFill>
                  <a:srgbClr val="46566A"/>
                </a:solidFill>
                <a:latin typeface="IBM Plex Sans" pitchFamily="34" charset="0"/>
                <a:ea typeface="IBM Plex Sans" pitchFamily="34" charset="-122"/>
                <a:cs typeface="IBM Plex Sans" pitchFamily="34" charset="-120"/>
              </a:rPr>
              <a:t> 723 crops from 20 passes, 2019–2020</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Held out:</a:t>
            </a:r>
            <a:r>
              <a:rPr lang="en-US" sz="1600" dirty="0">
                <a:solidFill>
                  <a:srgbClr val="46566A"/>
                </a:solidFill>
                <a:latin typeface="IBM Plex Sans" pitchFamily="34" charset="0"/>
                <a:ea typeface="IBM Plex Sans" pitchFamily="34" charset="-122"/>
                <a:cs typeface="IBM Plex Sans" pitchFamily="34" charset="-120"/>
              </a:rPr>
              <a:t> all of April 2019, for the test</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Detections:</a:t>
            </a:r>
            <a:r>
              <a:rPr lang="en-US" sz="1600" dirty="0">
                <a:solidFill>
                  <a:srgbClr val="46566A"/>
                </a:solidFill>
                <a:latin typeface="IBM Plex Sans" pitchFamily="34" charset="0"/>
                <a:ea typeface="IBM Plex Sans" pitchFamily="34" charset="-122"/>
                <a:cs typeface="IBM Plex Sans" pitchFamily="34" charset="-120"/>
              </a:rPr>
              <a:t> heatmap peaks scoring ≥ 0.35</a:t>
            </a:r>
            <a:endParaRPr lang="en-US" sz="1600" dirty="0"/>
          </a:p>
        </p:txBody>
      </p:sp>
      <p:sp>
        <p:nvSpPr>
          <p:cNvPr id="5" name="Shape 3"/>
          <p:cNvSpPr/>
          <p:nvPr/>
        </p:nvSpPr>
        <p:spPr>
          <a:xfrm>
            <a:off x="5486400" y="1042415"/>
            <a:ext cx="5882685" cy="4114800"/>
          </a:xfrm>
          <a:prstGeom prst="roundRect">
            <a:avLst>
              <a:gd name="adj" fmla="val 1788"/>
            </a:avLst>
          </a:prstGeom>
          <a:solidFill>
            <a:srgbClr val="0E2233"/>
          </a:solidFill>
          <a:ln/>
        </p:spPr>
      </p:sp>
      <p:pic>
        <p:nvPicPr>
          <p:cNvPr id="6" name="Image 0" descr="HV radar scene of 8 May 2025 with land and pack ice masked in black and 140 detections circled in red">    </p:cNvPr>
          <p:cNvPicPr>
            <a:picLocks noChangeAspect="1"/>
          </p:cNvPicPr>
          <p:nvPr/>
        </p:nvPicPr>
        <p:blipFill>
          <a:blip r:embed="rId4"/>
          <a:stretch/>
        </p:blipFill>
        <p:spPr>
          <a:xfrm>
            <a:off x="5486400" y="1042415"/>
            <a:ext cx="5882685" cy="4114800"/>
          </a:xfrm>
          <a:prstGeom prst="roundRect">
            <a:avLst>
              <a:gd name="adj" fmla="val 1788"/>
            </a:avLst>
          </a:prstGeom>
        </p:spPr>
      </p:pic>
      <p:sp>
        <p:nvSpPr>
          <p:cNvPr id="7" name="Text 4"/>
          <p:cNvSpPr/>
          <p:nvPr/>
        </p:nvSpPr>
        <p:spPr>
          <a:xfrm>
            <a:off x="5486346" y="5248655"/>
            <a:ext cx="5882685"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THOR heatmaps on 2020 validation crops: IIP labels (red circles), THOR peaks (green ×).</a:t>
            </a:r>
            <a:endParaRPr lang="en-US" sz="1200" dirty="0"/>
          </a:p>
        </p:txBody>
      </p:sp>
      <p:sp>
        <p:nvSpPr>
          <p:cNvPr id="8" name="Text 5"/>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Iceberg Alley SAR · Project brief</a:t>
            </a:r>
            <a:endParaRPr lang="en-US" sz="1200" dirty="0"/>
          </a:p>
        </p:txBody>
      </p:sp>
      <p:sp>
        <p:nvSpPr>
          <p:cNvPr id="9" name="Text 6"/>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theme/theme1.xml><?xml version="1.0" encoding="utf-8"?>
<a:theme xmlns:a="http://schemas.openxmlformats.org/drawingml/2006/main" name="Iceberg Alley SAR — Project Brief">
  <a:themeElements>
    <a:clrScheme name="Iceberg Alley SAR — Project Brief">
      <a:dk1>
        <a:srgbClr val="0E2233"/>
      </a:dk1>
      <a:lt1>
        <a:srgbClr val="F4F6F3"/>
      </a:lt1>
      <a:dk2>
        <a:srgbClr val="485763"/>
      </a:dk2>
      <a:lt2>
        <a:srgbClr val="DDE1E0"/>
      </a:lt2>
      <a:accent1>
        <a:srgbClr val="A84B1A"/>
      </a:accent1>
      <a:accent2>
        <a:srgbClr val="F2A766"/>
      </a:accent2>
      <a:accent3>
        <a:srgbClr val="46566A"/>
      </a:accent3>
      <a:accent4>
        <a:srgbClr val="5A6978"/>
      </a:accent4>
      <a:accent5>
        <a:srgbClr val="BFD3DB"/>
      </a:accent5>
      <a:accent6>
        <a:srgbClr val="2A3A4A"/>
      </a:accent6>
      <a:hlink>
        <a:srgbClr val="0563C1"/>
      </a:hlink>
      <a:folHlink>
        <a:srgbClr val="954F72"/>
      </a:folHlink>
    </a:clrScheme>
    <a:fontScheme name="Iceberg Alley SAR — Project Brief">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Iceberg Alley SAR — Project Brief</dc:title>
  <dc:subject/>
  <dc:creator/>
  <cp:lastModifiedBy/>
  <cp:revision>1</cp:revision>
  <dcterms:created xsi:type="dcterms:W3CDTF">2026-10-06T13:59:26Z</dcterms:created>
  <dcterms:modified xsi:type="dcterms:W3CDTF">2026-10-06T13:59:26Z</dcterms:modified>
</cp:coreProperties>
</file>