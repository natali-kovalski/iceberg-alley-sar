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11"/>
    <p:sldId id="259" r:id="rId5"/>
    <p:sldId id="262" r:id="rId8"/>
    <p:sldId id="260" r:id="rId6"/>
    <p:sldId id="264" r:id="rId10"/>
    <p:sldId id="263" r:id="rId9"/>
    <p:sldId id="257" r:id="rId3"/>
    <p:sldId id="268" r:id="rId19"/>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of the Iceberg Alley SAR project. The question: does a frozen foundation model with a tiny trained head find more icebergs in Sentinel-1 imagery than a well-tuned classical CFAR detector, under identical conditions?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2019-04-15, with pack ice in the scene, 47% of the linear head's peaks fall in the CFAR's masked area; on ice-free 04-24 it is 0. THOR depends on the HV pack-ice mask of the CFAR pipeline. Also: THOR learned what IIP analysts label, so part of the gap may be agreement with their labelling style, not only better detection.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Nothing was tuned on these frames: the models were fixed on 2019/2020 year folds, and the PFA list, bins and radii were in config.yaml before the first run. The CFAR is swept over PFA 1e-3 to 1e-12; THOR over its score. Three of the four frames were added after the first run to check that 04-29 wasn't a lucky frame; HyP3 refused the richest open-ocean frames (no DEM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point is an operating point: detections in open water (x, log scale) against the share of labelled bergs matched (y). The dotted line is the ideal where every detection is a labelled berg. Loosening the CFAR from 1e-5 to 1e-3 adds about 3,500 detections for a few more bergs. Linear and CenterNet heads are indistinguishable, so the 769-parameter linear head is the one to keep.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Pooled over the four frames, at the CFAR's detection count at PFA 1e-6. Overlap: 356 bergs found by both, 75 by THOR only, 24 by the CFAR only, 57 by neither (38 of those within 5 km of pack ice, where both detectors are filtered out). The pooled gap is about five times the binomial sampling noise (+/- 0.02 at n = 512).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Large bergs: on 04-29 all four are 30+ dB above the sea in HV, so the CFAR threshold fires at any PFA, but their grown blobs measure 340-470 m, above max_structure_m (300 m), the rule that rejects sea-ice strips. THOR has no such rule. Small bergs are near the ~20 m true resolution while a THOR token covers 80 m, which is the case for a 4x4 patch run. Matching radius doesn't drive the gap: from 200 m to 500 m both curves are flat.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Recall at the same number of open-water detections per frame (the CFAR's count at PFA 1e-6). The frames are 1 to 12 days apart, so some bergs appear on more than one, at different positions; each is still a separate image with its own sea state and 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CA-CFAR = cell-averaging constant false alarm rate: the background is the mean of a ring around each pixel, and the threshold follows from a chosen false-alarm probability under a gamma speckle model. THOR is a remote-sensing foundation model; here its encoder stays frozen and only a linear layer on four of its blocks (4 x 192 features + bias = 769 parameters) is trained, to output an iceberg heatmap. Reference: Forgaard et al., IGARSS 2026.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has the full write-up: method, validation findings and limitations, plus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four held-out frames with same-pass labels (512 bergs), THOR (frozen encoder + a 769-parameter linear head) finds 10 percentage points more of the analyst-labelled bergs than the CA-CFAR at the same number of detections, leads on every frame, and finds most of the large bergs that the CFAR's strip rule rejects. The gain is in medium and large bergs; small bergs are a tie. Any strip-rule fix must be tuned off the test frames.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756"/>
            <a:ext cx="10566436" cy="502859"/>
          </a:xfrm>
          <a:prstGeom prst="rect">
            <a:avLst/>
          </a:prstGeom>
          <a:noFill/>
          <a:ln/>
        </p:spPr>
        <p:txBody>
          <a:bodyPr wrap="square" lIns="0" tIns="0" rIns="0" bIns="0" rtlCol="0" anchor="t"/>
          <a:lstStyle>
            <a:lvl1pPr algn="l" indent="0" marL="0">
              <a:lnSpc>
                <a:spcPct val="115000"/>
              </a:lnSpc>
              <a:buNone/>
              <a:defRPr lang="en-US" sz="3600" dirty="0">
                <a:solidFill>
                  <a:srgbClr val="0E22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2" y="1935415"/>
            <a:ext cx="10566418" cy="4109785"/>
          </a:xfrm>
          <a:prstGeom prst="rect">
            <a:avLst/>
          </a:prstGeom>
          <a:noFill/>
          <a:ln/>
        </p:spPr>
        <p:txBody>
          <a:bodyPr wrap="square" lIns="0" tIns="0" rIns="0" bIns="0" rtlCol="0" anchor="t"/>
          <a:lstStyle>
            <a:lvl1pPr algn="l" indent="0" marL="0">
              <a:lnSpc>
                <a:spcPct val="140000"/>
              </a:lnSpc>
              <a:buNone/>
              <a:defRPr lang="en-US" sz="1600" dirty="0">
                <a:solidFill>
                  <a:srgbClr val="0E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natali-kovalski/iceberg-alley-sar"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p:bgPr>
    </p:bg>
    <p:spTree>
      <p:nvGrpSpPr>
        <p:cNvPr id="1" name=""/>
        <p:cNvGrpSpPr/>
        <p:nvPr/>
      </p:nvGrpSpPr>
      <p:grpSpPr>
        <a:xfrm>
          <a:off x="0" y="0"/>
          <a:ext cx="0" cy="0"/>
          <a:chOff x="0" y="0"/>
          <a:chExt cx="0" cy="0"/>
        </a:xfrm>
      </p:grpSpPr>
      <p:pic>
        <p:nvPicPr>
          <p:cNvPr id="2" name="Image 0" descr="Cesium viewer showing iceberg candidates off northeast Newfoundland">    </p:cNvPr>
          <p:cNvPicPr>
            <a:picLocks noChangeAspect="1"/>
          </p:cNvPicPr>
          <p:nvPr/>
        </p:nvPicPr>
        <p:blipFill>
          <a:blip r:embed="rId1"/>
          <a:srcRect l="26042" r="26042" t="0" b="0"/>
          <a:stretch/>
        </p:blipFill>
        <p:spPr>
          <a:xfrm>
            <a:off x="6350000" y="0"/>
            <a:ext cx="5842000" cy="6858000"/>
          </a:xfrm>
          <a:prstGeom prst="rect">
            <a:avLst/>
          </a:prstGeom>
        </p:spPr>
      </p:pic>
      <p:sp>
        <p:nvSpPr>
          <p:cNvPr id="3" name="Shape 0"/>
          <p:cNvSpPr/>
          <p:nvPr/>
        </p:nvSpPr>
        <p:spPr>
          <a:xfrm>
            <a:off x="6350000" y="0"/>
            <a:ext cx="1524000" cy="6858000"/>
          </a:xfrm>
          <a:prstGeom prst="rect">
            <a:avLst/>
          </a:prstGeom>
          <a:gradFill rotWithShape="1">
            <a:gsLst>
              <a:gs pos="0">
                <a:srgbClr val="0E2233"/>
              </a:gs>
              <a:gs pos="100000">
                <a:srgbClr val="0E2233">
                  <a:alpha val="0"/>
                </a:srgbClr>
              </a:gs>
            </a:gsLst>
            <a:lin ang="0" scaled="0"/>
          </a:gradFill>
          <a:ln/>
        </p:spPr>
      </p:sp>
      <p:sp>
        <p:nvSpPr>
          <p:cNvPr id="4" name="Text 1"/>
          <p:cNvSpPr/>
          <p:nvPr/>
        </p:nvSpPr>
        <p:spPr>
          <a:xfrm>
            <a:off x="812782" y="1668949"/>
            <a:ext cx="523240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BRIEF · ICEBERG DETECTION</a:t>
            </a:r>
            <a:endParaRPr lang="en-US" sz="1200" dirty="0"/>
          </a:p>
        </p:txBody>
      </p:sp>
      <p:sp>
        <p:nvSpPr>
          <p:cNvPr id="5" name="Text 2"/>
          <p:cNvSpPr/>
          <p:nvPr>
            <p:ph type="title"/>
          </p:nvPr>
        </p:nvSpPr>
        <p:spPr>
          <a:xfrm>
            <a:off x="812782" y="2085488"/>
            <a:ext cx="5232400"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CA-CFAR vs. THOR</a:t>
            </a:r>
            <a:endParaRPr lang="en-US" sz="6000" dirty="0"/>
          </a:p>
        </p:txBody>
      </p:sp>
      <p:sp>
        <p:nvSpPr>
          <p:cNvPr id="6" name="Text 3"/>
          <p:cNvSpPr/>
          <p:nvPr/>
        </p:nvSpPr>
        <p:spPr>
          <a:xfrm>
            <a:off x="812782" y="3888744"/>
            <a:ext cx="5232400" cy="909168"/>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DB"/>
                </a:solidFill>
                <a:latin typeface="IBM Plex Sans" pitchFamily="34" charset="0"/>
                <a:ea typeface="IBM Plex Sans" pitchFamily="34" charset="-122"/>
                <a:cs typeface="IBM Plex Sans" pitchFamily="34" charset="-120"/>
              </a:rPr>
              <a:t>A classical radar detector and a SAR foundation model, tested on the same scenes against the same Ice Patrol labels.</a:t>
            </a:r>
            <a:endParaRPr lang="en-US" sz="1600" dirty="0"/>
          </a:p>
        </p:txBody>
      </p:sp>
      <p:sp>
        <p:nvSpPr>
          <p:cNvPr id="7" name="Text 4"/>
          <p:cNvSpPr/>
          <p:nvPr/>
        </p:nvSpPr>
        <p:spPr>
          <a:xfrm>
            <a:off x="812782" y="4975640"/>
            <a:ext cx="52324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B"/>
                </a:solidFill>
                <a:latin typeface="IBM Plex Sans" pitchFamily="34" charset="0"/>
                <a:ea typeface="IBM Plex Sans" pitchFamily="34" charset="-122"/>
                <a:cs typeface="IBM Plex Sans" pitchFamily="34" charset="-120"/>
              </a:rPr>
              <a:t>Natali Kovalski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LIMITS</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THOR doesn't replace the pipeline</a:t>
            </a:r>
            <a:endParaRPr lang="en-US" sz="3600" dirty="0"/>
          </a:p>
        </p:txBody>
      </p:sp>
      <p:sp>
        <p:nvSpPr>
          <p:cNvPr id="4" name="Shape 2"/>
          <p:cNvSpPr/>
          <p:nvPr/>
        </p:nvSpPr>
        <p:spPr>
          <a:xfrm>
            <a:off x="815957" y="1938572"/>
            <a:ext cx="3380347" cy="3900253"/>
          </a:xfrm>
          <a:prstGeom prst="roundRect">
            <a:avLst>
              <a:gd name="adj" fmla="val 2912"/>
            </a:avLst>
          </a:prstGeom>
          <a:solidFill>
            <a:srgbClr val="FBFCFA"/>
          </a:solidFill>
          <a:ln w="6350">
            <a:solidFill>
              <a:srgbClr val="D5DEE0"/>
            </a:solidFill>
            <a:prstDash val="solid"/>
          </a:ln>
        </p:spPr>
      </p:sp>
      <p:sp>
        <p:nvSpPr>
          <p:cNvPr id="5" name="Text 3"/>
          <p:cNvSpPr/>
          <p:nvPr/>
        </p:nvSpPr>
        <p:spPr>
          <a:xfrm>
            <a:off x="1123337"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23337"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Pack ice</a:t>
            </a:r>
            <a:endParaRPr lang="en-US" sz="2200" dirty="0"/>
          </a:p>
        </p:txBody>
      </p:sp>
      <p:sp>
        <p:nvSpPr>
          <p:cNvPr id="7" name="Text 5"/>
          <p:cNvSpPr/>
          <p:nvPr/>
        </p:nvSpPr>
        <p:spPr>
          <a:xfrm>
            <a:off x="1123337" y="3048631"/>
            <a:ext cx="2848555" cy="144783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Alone, it fires on pack ice: 34–82% of its peaks on icy frames fall inside the CFAR's ice mask.</a:t>
            </a:r>
            <a:endParaRPr lang="en-US" sz="1600" dirty="0"/>
          </a:p>
        </p:txBody>
      </p:sp>
      <p:sp>
        <p:nvSpPr>
          <p:cNvPr id="8" name="Shape 6"/>
          <p:cNvSpPr/>
          <p:nvPr/>
        </p:nvSpPr>
        <p:spPr>
          <a:xfrm>
            <a:off x="4405781" y="1938572"/>
            <a:ext cx="3380437" cy="3900253"/>
          </a:xfrm>
          <a:prstGeom prst="roundRect">
            <a:avLst>
              <a:gd name="adj" fmla="val 2912"/>
            </a:avLst>
          </a:prstGeom>
          <a:solidFill>
            <a:srgbClr val="FBFCFA"/>
          </a:solidFill>
          <a:ln w="6350">
            <a:solidFill>
              <a:srgbClr val="D5DEE0"/>
            </a:solidFill>
            <a:prstDash val="solid"/>
          </a:ln>
        </p:spPr>
      </p:sp>
      <p:sp>
        <p:nvSpPr>
          <p:cNvPr id="9" name="Text 7"/>
          <p:cNvSpPr/>
          <p:nvPr/>
        </p:nvSpPr>
        <p:spPr>
          <a:xfrm>
            <a:off x="4713161" y="2245951"/>
            <a:ext cx="2848648"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13161" y="2586362"/>
            <a:ext cx="2848648"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Small bergs</a:t>
            </a:r>
            <a:endParaRPr lang="en-US" sz="2200" dirty="0"/>
          </a:p>
        </p:txBody>
      </p:sp>
      <p:sp>
        <p:nvSpPr>
          <p:cNvPr id="11" name="Text 9"/>
          <p:cNvSpPr/>
          <p:nvPr/>
        </p:nvSpPr>
        <p:spPr>
          <a:xfrm>
            <a:off x="4713161" y="3048631"/>
            <a:ext cx="2848648"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A tie at 0.71. An 80 m patch is coarse for a 20 m target; 4×4 patches are the next test.</a:t>
            </a:r>
            <a:endParaRPr lang="en-US" sz="1600" dirty="0"/>
          </a:p>
        </p:txBody>
      </p:sp>
      <p:sp>
        <p:nvSpPr>
          <p:cNvPr id="12" name="Shape 10"/>
          <p:cNvSpPr/>
          <p:nvPr/>
        </p:nvSpPr>
        <p:spPr>
          <a:xfrm>
            <a:off x="7995696" y="1938572"/>
            <a:ext cx="3380347" cy="3900253"/>
          </a:xfrm>
          <a:prstGeom prst="roundRect">
            <a:avLst>
              <a:gd name="adj" fmla="val 2912"/>
            </a:avLst>
          </a:prstGeom>
          <a:solidFill>
            <a:srgbClr val="FBFCFA"/>
          </a:solidFill>
          <a:ln w="6350">
            <a:solidFill>
              <a:srgbClr val="D5DEE0"/>
            </a:solidFill>
            <a:prstDash val="solid"/>
          </a:ln>
        </p:spPr>
      </p:sp>
      <p:sp>
        <p:nvSpPr>
          <p:cNvPr id="13" name="Text 11"/>
          <p:cNvSpPr/>
          <p:nvPr/>
        </p:nvSpPr>
        <p:spPr>
          <a:xfrm>
            <a:off x="8303075" y="2245951"/>
            <a:ext cx="2848555"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03075" y="2586362"/>
            <a:ext cx="2848555"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Precision</a:t>
            </a:r>
            <a:endParaRPr lang="en-US" sz="2200" dirty="0"/>
          </a:p>
        </p:txBody>
      </p:sp>
      <p:sp>
        <p:nvSpPr>
          <p:cNvPr id="15" name="Text 13"/>
          <p:cNvSpPr/>
          <p:nvPr/>
        </p:nvSpPr>
        <p:spPr>
          <a:xfrm>
            <a:off x="8303075" y="3048631"/>
            <a:ext cx="2848555" cy="1163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Unknown for both without AIS. At the matched count, CFAR has 546 and THOR 495 unlabelled detections.</a:t>
            </a:r>
            <a:endParaRPr lang="en-US" sz="1600" dirty="0"/>
          </a:p>
        </p:txBody>
      </p:sp>
      <p:sp>
        <p:nvSpPr>
          <p:cNvPr id="16" name="Text 1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17" name="Text 1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TEST SETUP</a:t>
            </a:r>
            <a:endParaRPr lang="en-US" sz="1200" dirty="0"/>
          </a:p>
        </p:txBody>
      </p:sp>
      <p:sp>
        <p:nvSpPr>
          <p:cNvPr id="3" name="Text 1"/>
          <p:cNvSpPr/>
          <p:nvPr>
            <p:ph type="title"/>
          </p:nvPr>
        </p:nvSpPr>
        <p:spPr>
          <a:xfrm>
            <a:off x="812782" y="1127756"/>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Everything identical except the detector</a:t>
            </a:r>
            <a:endParaRPr lang="en-US" sz="3600" dirty="0"/>
          </a:p>
        </p:txBody>
      </p:sp>
      <p:sp>
        <p:nvSpPr>
          <p:cNvPr id="4" name="Shape 2"/>
          <p:cNvSpPr/>
          <p:nvPr/>
        </p:nvSpPr>
        <p:spPr>
          <a:xfrm>
            <a:off x="812782" y="1884614"/>
            <a:ext cx="5207000" cy="1902474"/>
          </a:xfrm>
          <a:prstGeom prst="roundRect">
            <a:avLst>
              <a:gd name="adj" fmla="val 5340"/>
            </a:avLst>
          </a:prstGeom>
          <a:solidFill>
            <a:srgbClr val="FBFCFA"/>
          </a:solidFill>
          <a:ln/>
        </p:spPr>
      </p:sp>
      <p:sp>
        <p:nvSpPr>
          <p:cNvPr id="5" name="Text 3"/>
          <p:cNvSpPr/>
          <p:nvPr/>
        </p:nvSpPr>
        <p:spPr>
          <a:xfrm>
            <a:off x="1066782" y="211317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Same frames</a:t>
            </a:r>
            <a:endParaRPr lang="en-US" sz="2200" dirty="0"/>
          </a:p>
        </p:txBody>
      </p:sp>
      <p:sp>
        <p:nvSpPr>
          <p:cNvPr id="6" name="Text 4"/>
          <p:cNvSpPr/>
          <p:nvPr/>
        </p:nvSpPr>
        <p:spPr>
          <a:xfrm>
            <a:off x="1066782" y="252457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Four April 2019 passes with same-pass IIP analyst labels: 512 bergs. None was used in training.</a:t>
            </a:r>
            <a:endParaRPr lang="en-US" sz="1600" dirty="0"/>
          </a:p>
        </p:txBody>
      </p:sp>
      <p:sp>
        <p:nvSpPr>
          <p:cNvPr id="7" name="Shape 5"/>
          <p:cNvSpPr/>
          <p:nvPr/>
        </p:nvSpPr>
        <p:spPr>
          <a:xfrm>
            <a:off x="6172128" y="1884614"/>
            <a:ext cx="5207090" cy="1902474"/>
          </a:xfrm>
          <a:prstGeom prst="roundRect">
            <a:avLst>
              <a:gd name="adj" fmla="val 5340"/>
            </a:avLst>
          </a:prstGeom>
          <a:solidFill>
            <a:srgbClr val="FBFCFA"/>
          </a:solidFill>
          <a:ln/>
        </p:spPr>
      </p:sp>
      <p:sp>
        <p:nvSpPr>
          <p:cNvPr id="8" name="Text 6"/>
          <p:cNvSpPr/>
          <p:nvPr/>
        </p:nvSpPr>
        <p:spPr>
          <a:xfrm>
            <a:off x="6426128" y="211317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Same masks</a:t>
            </a:r>
            <a:endParaRPr lang="en-US" sz="2200" dirty="0"/>
          </a:p>
        </p:txBody>
      </p:sp>
      <p:sp>
        <p:nvSpPr>
          <p:cNvPr id="9" name="Text 7"/>
          <p:cNvSpPr/>
          <p:nvPr/>
        </p:nvSpPr>
        <p:spPr>
          <a:xfrm>
            <a:off x="6426128" y="252457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Land + 500 m, pack ice + 1 km. Detections within 5 km of pack ice are dropped for both.</a:t>
            </a:r>
            <a:endParaRPr lang="en-US" sz="1600" dirty="0"/>
          </a:p>
        </p:txBody>
      </p:sp>
      <p:sp>
        <p:nvSpPr>
          <p:cNvPr id="10" name="Shape 8"/>
          <p:cNvSpPr/>
          <p:nvPr/>
        </p:nvSpPr>
        <p:spPr>
          <a:xfrm>
            <a:off x="812782" y="3939434"/>
            <a:ext cx="5207000" cy="1902564"/>
          </a:xfrm>
          <a:prstGeom prst="roundRect">
            <a:avLst>
              <a:gd name="adj" fmla="val 5340"/>
            </a:avLst>
          </a:prstGeom>
          <a:solidFill>
            <a:srgbClr val="FBFCFA"/>
          </a:solidFill>
          <a:ln/>
        </p:spPr>
      </p:sp>
      <p:sp>
        <p:nvSpPr>
          <p:cNvPr id="11" name="Text 9"/>
          <p:cNvSpPr/>
          <p:nvPr/>
        </p:nvSpPr>
        <p:spPr>
          <a:xfrm>
            <a:off x="1066782" y="4167998"/>
            <a:ext cx="4839970"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Same matching</a:t>
            </a:r>
            <a:endParaRPr lang="en-US" sz="2200" dirty="0"/>
          </a:p>
        </p:txBody>
      </p:sp>
      <p:sp>
        <p:nvSpPr>
          <p:cNvPr id="12" name="Text 10"/>
          <p:cNvSpPr/>
          <p:nvPr/>
        </p:nvSpPr>
        <p:spPr>
          <a:xfrm>
            <a:off x="1066782" y="4579395"/>
            <a:ext cx="4839970"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One-to-one within 500 m, with IIP positions moved to their 0.1′ cell centres.</a:t>
            </a:r>
            <a:endParaRPr lang="en-US" sz="1600" dirty="0"/>
          </a:p>
        </p:txBody>
      </p:sp>
      <p:sp>
        <p:nvSpPr>
          <p:cNvPr id="13" name="Shape 11"/>
          <p:cNvSpPr/>
          <p:nvPr/>
        </p:nvSpPr>
        <p:spPr>
          <a:xfrm>
            <a:off x="6172128" y="3939434"/>
            <a:ext cx="5207090" cy="1902564"/>
          </a:xfrm>
          <a:prstGeom prst="roundRect">
            <a:avLst>
              <a:gd name="adj" fmla="val 5340"/>
            </a:avLst>
          </a:prstGeom>
          <a:solidFill>
            <a:srgbClr val="FBFCFA"/>
          </a:solidFill>
          <a:ln/>
        </p:spPr>
      </p:sp>
      <p:sp>
        <p:nvSpPr>
          <p:cNvPr id="14" name="Text 12"/>
          <p:cNvSpPr/>
          <p:nvPr/>
        </p:nvSpPr>
        <p:spPr>
          <a:xfrm>
            <a:off x="6426128" y="4167998"/>
            <a:ext cx="4840063"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Same budget</a:t>
            </a:r>
            <a:endParaRPr lang="en-US" sz="2200" dirty="0"/>
          </a:p>
        </p:txBody>
      </p:sp>
      <p:sp>
        <p:nvSpPr>
          <p:cNvPr id="15" name="Text 13"/>
          <p:cNvSpPr/>
          <p:nvPr/>
        </p:nvSpPr>
        <p:spPr>
          <a:xfrm>
            <a:off x="6426128" y="4579395"/>
            <a:ext cx="4840063" cy="57398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6566A"/>
                </a:solidFill>
                <a:latin typeface="IBM Plex Sans" pitchFamily="34" charset="0"/>
                <a:ea typeface="IBM Plex Sans" pitchFamily="34" charset="-122"/>
                <a:cs typeface="IBM Plex Sans" pitchFamily="34" charset="-120"/>
              </a:rPr>
              <a:t>Precision needs AIS, so recall is compared at a matched number of detections per frame.</a:t>
            </a:r>
            <a:endParaRPr lang="en-US" sz="1600" dirty="0"/>
          </a:p>
        </p:txBody>
      </p:sp>
      <p:sp>
        <p:nvSpPr>
          <p:cNvPr id="16" name="Text 1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17" name="Text 1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1518949"/>
            <a:ext cx="4447540"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RECALL VS. DETECTIONS</a:t>
            </a:r>
            <a:endParaRPr lang="en-US" sz="1200" dirty="0"/>
          </a:p>
        </p:txBody>
      </p:sp>
      <p:sp>
        <p:nvSpPr>
          <p:cNvPr id="3" name="Text 1"/>
          <p:cNvSpPr/>
          <p:nvPr>
            <p:ph type="title"/>
          </p:nvPr>
        </p:nvSpPr>
        <p:spPr>
          <a:xfrm>
            <a:off x="812782" y="1935485"/>
            <a:ext cx="4447540" cy="103111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THOR climbs, CFAR saturates</a:t>
            </a:r>
            <a:endParaRPr lang="en-US" sz="3600" dirty="0"/>
          </a:p>
        </p:txBody>
      </p:sp>
      <p:sp>
        <p:nvSpPr>
          <p:cNvPr id="4" name="Text 2"/>
          <p:cNvSpPr/>
          <p:nvPr/>
        </p:nvSpPr>
        <p:spPr>
          <a:xfrm>
            <a:off x="870440" y="3144332"/>
            <a:ext cx="4382262" cy="201681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Same recall</a:t>
            </a:r>
            <a:r>
              <a:rPr lang="en-US" sz="1600" dirty="0">
                <a:solidFill>
                  <a:srgbClr val="46566A"/>
                </a:solidFill>
                <a:latin typeface="IBM Plex Sans" pitchFamily="34" charset="0"/>
                <a:ea typeface="IBM Plex Sans" pitchFamily="34" charset="-122"/>
                <a:cs typeface="IBM Plex Sans" pitchFamily="34" charset="-120"/>
              </a:rPr>
              <a:t> as the CFAR with ~28% fewer detections</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CFAR at its loosest</a:t>
            </a:r>
            <a:r>
              <a:rPr lang="en-US" sz="1600" dirty="0">
                <a:solidFill>
                  <a:srgbClr val="46566A"/>
                </a:solidFill>
                <a:latin typeface="IBM Plex Sans" pitchFamily="34" charset="0"/>
                <a:ea typeface="IBM Plex Sans" pitchFamily="34" charset="-122"/>
                <a:cs typeface="IBM Plex Sans" pitchFamily="34" charset="-120"/>
              </a:rPr>
              <a:t> (PFA 10⁻³): 0.83 with 4,798 detections</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THOR</a:t>
            </a:r>
            <a:r>
              <a:rPr lang="en-US" sz="1600" dirty="0">
                <a:solidFill>
                  <a:srgbClr val="46566A"/>
                </a:solidFill>
                <a:latin typeface="IBM Plex Sans" pitchFamily="34" charset="0"/>
                <a:ea typeface="IBM Plex Sans" pitchFamily="34" charset="-122"/>
                <a:cs typeface="IBM Plex Sans" pitchFamily="34" charset="-120"/>
              </a:rPr>
              <a:t> reaches that with ~900, and tops out at 0.92</a:t>
            </a:r>
            <a:endParaRPr lang="en-US" sz="1600" dirty="0"/>
          </a:p>
          <a:p>
            <a:pPr algn="l" marL="196342" indent="-196342">
              <a:lnSpc>
                <a:spcPts val="2240"/>
              </a:lnSpc>
              <a:buSzPct val="100000"/>
              <a:buChar char="•"/>
            </a:pPr>
            <a:r>
              <a:rPr lang="en-US" sz="1600" b="1" dirty="0">
                <a:solidFill>
                  <a:srgbClr val="46566A"/>
                </a:solidFill>
                <a:latin typeface="IBM Plex Sans" pitchFamily="34" charset="0"/>
                <a:ea typeface="IBM Plex Sans" pitchFamily="34" charset="-122"/>
                <a:cs typeface="IBM Plex Sans" pitchFamily="34" charset="-120"/>
              </a:rPr>
              <a:t>Its top ~100 peaks</a:t>
            </a:r>
            <a:r>
              <a:rPr lang="en-US" sz="1600" dirty="0">
                <a:solidFill>
                  <a:srgbClr val="46566A"/>
                </a:solidFill>
                <a:latin typeface="IBM Plex Sans" pitchFamily="34" charset="0"/>
                <a:ea typeface="IBM Plex Sans" pitchFamily="34" charset="-122"/>
                <a:cs typeface="IBM Plex Sans" pitchFamily="34" charset="-120"/>
              </a:rPr>
              <a:t> are almost all labelled bergs</a:t>
            </a:r>
            <a:endParaRPr lang="en-US" sz="1600" dirty="0"/>
          </a:p>
        </p:txBody>
      </p:sp>
      <p:sp>
        <p:nvSpPr>
          <p:cNvPr id="5" name="Shape 3"/>
          <p:cNvSpPr/>
          <p:nvPr/>
        </p:nvSpPr>
        <p:spPr>
          <a:xfrm>
            <a:off x="5826206" y="1042415"/>
            <a:ext cx="5548930" cy="4261104"/>
          </a:xfrm>
          <a:prstGeom prst="roundRect">
            <a:avLst>
              <a:gd name="adj" fmla="val 1788"/>
            </a:avLst>
          </a:prstGeom>
          <a:solidFill>
            <a:srgbClr val="0E2233"/>
          </a:solidFill>
          <a:ln/>
        </p:spPr>
      </p:sp>
      <p:pic>
        <p:nvPicPr>
          <p:cNvPr id="6" name="Image 0" descr="HV radar scene of 8 May 2025 with land and pack ice masked in black and 140 detections circled in red">    </p:cNvPr>
          <p:cNvPicPr>
            <a:picLocks noChangeAspect="1"/>
          </p:cNvPicPr>
          <p:nvPr/>
        </p:nvPicPr>
        <p:blipFill>
          <a:blip r:embed="rId4"/>
          <a:stretch/>
        </p:blipFill>
        <p:spPr>
          <a:xfrm>
            <a:off x="5826206" y="1042415"/>
            <a:ext cx="5548930" cy="4261104"/>
          </a:xfrm>
          <a:prstGeom prst="roundRect">
            <a:avLst>
              <a:gd name="adj" fmla="val 1788"/>
            </a:avLst>
          </a:prstGeom>
        </p:spPr>
      </p:pic>
      <p:sp>
        <p:nvSpPr>
          <p:cNvPr id="7" name="Text 4"/>
          <p:cNvSpPr/>
          <p:nvPr/>
        </p:nvSpPr>
        <p:spPr>
          <a:xfrm>
            <a:off x="5826206" y="5401828"/>
            <a:ext cx="554893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Pooled, 512 IIP labels. Square: CFAR at PFA 10⁻⁶. Circle: THOR at score 0.35.</a:t>
            </a:r>
            <a:endParaRPr lang="en-US" sz="1200" dirty="0"/>
          </a:p>
        </p:txBody>
      </p:sp>
      <p:sp>
        <p:nvSpPr>
          <p:cNvPr id="8" name="Text 5"/>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9" name="Text 6"/>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766"/>
        </a:solidFill>
      </p:bgPr>
    </p:bg>
    <p:spTree>
      <p:nvGrpSpPr>
        <p:cNvPr id="1" name=""/>
        <p:cNvGrpSpPr/>
        <p:nvPr/>
      </p:nvGrpSpPr>
      <p:grpSpPr>
        <a:xfrm>
          <a:off x="0" y="0"/>
          <a:ext cx="0" cy="0"/>
          <a:chOff x="0" y="0"/>
          <a:chExt cx="0" cy="0"/>
        </a:xfrm>
      </p:grpSpPr>
      <p:sp>
        <p:nvSpPr>
          <p:cNvPr id="2" name="Text 0"/>
          <p:cNvSpPr/>
          <p:nvPr/>
        </p:nvSpPr>
        <p:spPr>
          <a:xfrm>
            <a:off x="812782" y="1582446"/>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E2233"/>
                </a:solidFill>
                <a:latin typeface="IBM Plex Sans" pitchFamily="34" charset="0"/>
                <a:ea typeface="IBM Plex Sans" pitchFamily="34" charset="-122"/>
                <a:cs typeface="IBM Plex Sans" pitchFamily="34" charset="-120"/>
              </a:rPr>
              <a:t>HEADLINE RESULT</a:t>
            </a:r>
            <a:endParaRPr lang="en-US" sz="1200" dirty="0"/>
          </a:p>
        </p:txBody>
      </p:sp>
      <p:sp>
        <p:nvSpPr>
          <p:cNvPr id="3" name="Text 1"/>
          <p:cNvSpPr/>
          <p:nvPr/>
        </p:nvSpPr>
        <p:spPr>
          <a:xfrm>
            <a:off x="812782" y="1948204"/>
            <a:ext cx="10883429" cy="1549400"/>
          </a:xfrm>
          <a:prstGeom prst="rect">
            <a:avLst/>
          </a:prstGeom>
          <a:noFill/>
          <a:ln/>
        </p:spPr>
        <p:txBody>
          <a:bodyPr wrap="square" lIns="0" tIns="0" rIns="0" bIns="0" rtlCol="0" anchor="t">
            <a:normAutofit/>
          </a:bodyPr>
          <a:lstStyle/>
          <a:p>
            <a:pPr algn="l" indent="0" marL="0">
              <a:lnSpc>
                <a:spcPts val="12000"/>
              </a:lnSpc>
              <a:buNone/>
            </a:pPr>
            <a:r>
              <a:rPr lang="en-US" sz="12000" b="1" dirty="0">
                <a:solidFill>
                  <a:srgbClr val="0E2233"/>
                </a:solidFill>
                <a:latin typeface="Source Serif 4" pitchFamily="18" charset="0"/>
                <a:ea typeface="Source Serif 4" pitchFamily="18" charset="-122"/>
                <a:cs typeface="Source Serif 4" pitchFamily="18" charset="-120"/>
              </a:rPr>
              <a:t>+10 pts</a:t>
            </a:r>
            <a:endParaRPr lang="en-US" sz="12000" dirty="0"/>
          </a:p>
        </p:txBody>
      </p:sp>
      <p:sp>
        <p:nvSpPr>
          <p:cNvPr id="4" name="Text 2"/>
          <p:cNvSpPr/>
          <p:nvPr/>
        </p:nvSpPr>
        <p:spPr>
          <a:xfrm>
            <a:off x="812782" y="3624551"/>
            <a:ext cx="9156700" cy="75186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E2233"/>
                </a:solidFill>
                <a:latin typeface="IBM Plex Sans" pitchFamily="34" charset="0"/>
                <a:ea typeface="IBM Plex Sans" pitchFamily="34" charset="-122"/>
                <a:cs typeface="IBM Plex Sans" pitchFamily="34" charset="-120"/>
              </a:rPr>
              <a:t>THOR finds 84% of the labelled bergs where the CA-CFAR finds 74%, at the same number of detections: </a:t>
            </a:r>
            <a:r>
              <a:rPr lang="en-US" sz="2200" b="1" dirty="0">
                <a:solidFill>
                  <a:srgbClr val="0E2233"/>
                </a:solidFill>
                <a:latin typeface="IBM Plex Sans" pitchFamily="34" charset="0"/>
                <a:ea typeface="IBM Plex Sans" pitchFamily="34" charset="-122"/>
                <a:cs typeface="IBM Plex Sans" pitchFamily="34" charset="-120"/>
              </a:rPr>
              <a:t>431 vs. 380 of 512</a:t>
            </a:r>
            <a:r>
              <a:rPr lang="en-US" sz="2200" dirty="0">
                <a:solidFill>
                  <a:srgbClr val="0E2233"/>
                </a:solidFill>
                <a:latin typeface="IBM Plex Sans" pitchFamily="34" charset="0"/>
                <a:ea typeface="IBM Plex Sans" pitchFamily="34" charset="-122"/>
                <a:cs typeface="IBM Plex Sans" pitchFamily="34" charset="-120"/>
              </a:rPr>
              <a:t>.</a:t>
            </a:r>
            <a:endParaRPr lang="en-US" sz="2200" dirty="0"/>
          </a:p>
        </p:txBody>
      </p:sp>
      <p:sp>
        <p:nvSpPr>
          <p:cNvPr id="5" name="Text 3"/>
          <p:cNvSpPr/>
          <p:nvPr/>
        </p:nvSpPr>
        <p:spPr>
          <a:xfrm>
            <a:off x="812782" y="4503356"/>
            <a:ext cx="9156700"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A3A4A"/>
                </a:solidFill>
                <a:latin typeface="IBM Plex Sans" pitchFamily="34" charset="0"/>
                <a:ea typeface="IBM Plex Sans" pitchFamily="34" charset="-122"/>
                <a:cs typeface="IBM Plex Sans" pitchFamily="34" charset="-120"/>
              </a:rPr>
              <a:t>4 held-out frames · 926 open-water detections each · THOR leads on every frame</a:t>
            </a:r>
            <a:endParaRPr lang="en-US" sz="1600" dirty="0"/>
          </a:p>
        </p:txBody>
      </p:sp>
      <p:sp>
        <p:nvSpPr>
          <p:cNvPr id="6" name="Text 4"/>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CA-CFAR vs. THOR · Brief</a:t>
            </a:r>
            <a:endParaRPr lang="en-US" sz="1200" dirty="0"/>
          </a:p>
        </p:txBody>
      </p:sp>
      <p:sp>
        <p:nvSpPr>
          <p:cNvPr id="7" name="Text 5"/>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A3A4A"/>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WHERE THE GAIN IS</a:t>
            </a:r>
            <a:endParaRPr lang="en-US" sz="1200" dirty="0"/>
          </a:p>
        </p:txBody>
      </p:sp>
      <p:sp>
        <p:nvSpPr>
          <p:cNvPr id="3" name="Text 1"/>
          <p:cNvSpPr/>
          <p:nvPr>
            <p:ph type="title"/>
          </p:nvPr>
        </p:nvSpPr>
        <p:spPr>
          <a:xfrm>
            <a:off x="812782" y="1127758"/>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Large and medium bergs, not small ones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62"/>
          <a:ext cx="4050792" cy="2190930"/>
        </p:xfrm>
        <a:graphic>
          <a:graphicData uri="http://schemas.openxmlformats.org/drawingml/2006/table">
            <a:tbl>
              <a:tblPr/>
              <a:tblGrid>
                <a:gridCol w="2496312"/>
                <a:gridCol w="777240"/>
                <a:gridCol w="777240"/>
              </a:tblGrid>
              <a:tr h="438186">
                <a:tc>
                  <a:txBody>
                    <a:bodyPr/>
                    <a:lstStyle/>
                    <a:p>
                      <a:pPr indent="0" marL="0" algn="l">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Bergs (pooled)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CFAR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algn="r" indent="0" marL="0">
                        <a:lnSpc>
                          <a:spcPts val="2240"/>
                        </a:lnSpc>
                        <a:buNone/>
                      </a:pPr>
                      <a:r>
                        <a:rPr lang="en-US" sz="1600" b="1" dirty="0">
                          <a:solidFill>
                            <a:srgbClr val="0E2233"/>
                          </a:solidFill>
                          <a:latin typeface="IBM Plex Sans" pitchFamily="34" charset="0"/>
                          <a:ea typeface="IBM Plex Sans" pitchFamily="34" charset="-122"/>
                          <a:cs typeface="IBM Plex Sans" pitchFamily="34" charset="-120"/>
                        </a:rPr>
                        <a:t>THOR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Small, 15–60 m (73)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Medium, 61–120 m (425)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Large, &gt; 120 m (14)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solidFill>
                      <a:srgbClr val="E4ECEE"/>
                    </a:solidFill>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11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solidFill>
                      <a:srgbClr val="E4ECEE"/>
                    </a:solidFill>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&gt; 20 km from ice (275)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0.93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CBE"/>
                      </a:solidFill>
                      <a:prstDash val="solid"/>
                      <a:round/>
                      <a:headEnd type="none" w="med" len="med"/>
                      <a:tailEnd type="none" w="med" len="med"/>
                    </a:lnL>
                    <a:lnR w="12700" cap="flat" cmpd="sng" algn="ctr">
                      <a:solidFill>
                        <a:srgbClr val="B6BCB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6BCBE"/>
                      </a:solidFill>
                      <a:prstDash val="solid"/>
                      <a:round/>
                      <a:headEnd type="none" w="med" len="med"/>
                      <a:tailEnd type="none" w="med" len="med"/>
                    </a:lnB>
                  </a:tcPr>
                </a:tc>
              </a:tr>
              <a:tr h="438186">
                <a:tc>
                  <a:txBody>
                    <a:bodyPr/>
                    <a:lstStyle/>
                    <a:p>
                      <a:pPr indent="0" marL="0" algn="l">
                        <a:lnSpc>
                          <a:spcPts val="2240"/>
                        </a:lnSpc>
                        <a:buNone/>
                      </a:pPr>
                      <a:r>
                        <a:rPr lang="en-US" sz="1600" dirty="0">
                          <a:solidFill>
                            <a:srgbClr val="0E2233"/>
                          </a:solidFill>
                          <a:latin typeface="IBM Plex Sans" pitchFamily="34" charset="0"/>
                          <a:ea typeface="IBM Plex Sans" pitchFamily="34" charset="-122"/>
                          <a:cs typeface="IBM Plex Sans" pitchFamily="34" charset="-120"/>
                        </a:rPr>
                        <a:t>Incidence 40–47° (398)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0.73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algn="r" indent="0" marL="0">
                        <a:lnSpc>
                          <a:spcPts val="2240"/>
                        </a:lnSpc>
                        <a:buNone/>
                      </a:pPr>
                      <a:r>
                        <a:rPr lang="en-US" sz="1600" dirty="0">
                          <a:solidFill>
                            <a:srgbClr val="0E2233"/>
                          </a:solidFill>
                          <a:latin typeface="IBM Plex Sans" pitchFamily="34" charset="0"/>
                          <a:ea typeface="IBM Plex Sans" pitchFamily="34" charset="-122"/>
                          <a:cs typeface="IBM Plex Sans" pitchFamily="34" charset="-120"/>
                        </a:rPr>
                        <a:t>0.83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Shape 2"/>
          <p:cNvSpPr/>
          <p:nvPr/>
        </p:nvSpPr>
        <p:spPr>
          <a:xfrm>
            <a:off x="5184648" y="1892807"/>
            <a:ext cx="4967601" cy="3474719"/>
          </a:xfrm>
          <a:prstGeom prst="roundRect">
            <a:avLst>
              <a:gd name="adj" fmla="val 2419"/>
            </a:avLst>
          </a:prstGeom>
          <a:solidFill>
            <a:srgbClr val="FBFCFA"/>
          </a:solidFill>
          <a:ln/>
        </p:spPr>
      </p:sp>
      <p:pic>
        <p:nvPicPr>
          <p:cNvPr id="6" name="Image 0" descr="Map comparing detections with IIP analyst labels on 29 April 2019">    </p:cNvPr>
          <p:cNvPicPr>
            <a:picLocks noChangeAspect="1"/>
          </p:cNvPicPr>
          <p:nvPr/>
        </p:nvPicPr>
        <p:blipFill>
          <a:blip r:embed="rId4"/>
          <a:stretch/>
        </p:blipFill>
        <p:spPr>
          <a:xfrm>
            <a:off x="5184648" y="1892807"/>
            <a:ext cx="4967601" cy="3474719"/>
          </a:xfrm>
          <a:prstGeom prst="roundRect">
            <a:avLst>
              <a:gd name="adj" fmla="val 2227"/>
            </a:avLst>
          </a:prstGeom>
        </p:spPr>
      </p:pic>
      <p:sp>
        <p:nvSpPr>
          <p:cNvPr id="7" name="Shape 3"/>
          <p:cNvSpPr/>
          <p:nvPr/>
        </p:nvSpPr>
        <p:spPr>
          <a:xfrm>
            <a:off x="5184648" y="1892807"/>
            <a:ext cx="4967601" cy="3474719"/>
          </a:xfrm>
          <a:prstGeom prst="roundRect">
            <a:avLst>
              <a:gd name="adj" fmla="val 2323"/>
            </a:avLst>
          </a:prstGeom>
          <a:noFill/>
          <a:ln w="6350">
            <a:solidFill>
              <a:srgbClr val="D5DEE0"/>
            </a:solidFill>
            <a:prstDash val="solid"/>
          </a:ln>
        </p:spPr>
      </p:sp>
      <p:sp>
        <p:nvSpPr>
          <p:cNvPr id="8" name="Text 4"/>
          <p:cNvSpPr/>
          <p:nvPr/>
        </p:nvSpPr>
        <p:spPr>
          <a:xfrm>
            <a:off x="5181564" y="5477254"/>
            <a:ext cx="6383583"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THOR heatmaps on 2020 validation chips: IIP labels (red circles), THOR peaks (green ×). Large bergs: the CFAR sees them, then its 300 m strip rule drops them.</a:t>
            </a:r>
            <a:endParaRPr lang="en-US" sz="1200" dirty="0"/>
          </a:p>
        </p:txBody>
      </p:sp>
      <p:sp>
        <p:nvSpPr>
          <p:cNvPr id="9" name="Text 5"/>
          <p:cNvSpPr/>
          <p:nvPr/>
        </p:nvSpPr>
        <p:spPr>
          <a:xfrm>
            <a:off x="812782" y="6238246"/>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10" name="Text 6"/>
          <p:cNvSpPr/>
          <p:nvPr/>
        </p:nvSpPr>
        <p:spPr>
          <a:xfrm>
            <a:off x="11237976" y="6238246"/>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PER FRAME</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Ahead on every frame, by 0 to 15 points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96156"/>
          <a:ext cx="10552176" cy="1923491"/>
        </p:xfrm>
        <a:graphic>
          <a:graphicData uri="http://schemas.openxmlformats.org/drawingml/2006/table">
            <a:tbl>
              <a:tblPr/>
              <a:tblGrid>
                <a:gridCol w="2871216"/>
                <a:gridCol w="1920240"/>
                <a:gridCol w="1920240"/>
                <a:gridCol w="1920240"/>
                <a:gridCol w="1920240"/>
              </a:tblGrid>
              <a:tr h="384698">
                <a:tc>
                  <a:txBody>
                    <a:bodyPr/>
                    <a:lstStyle/>
                    <a:p>
                      <a:pPr indent="0" marL="0" algn="l">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Frame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gn="r">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IIP labels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gn="r">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Detections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gn="r">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CA-CFAR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c>
                  <a:txBody>
                    <a:bodyPr/>
                    <a:lstStyle/>
                    <a:p>
                      <a:pPr indent="0" marL="0" algn="r">
                        <a:lnSpc>
                          <a:spcPts val="1960"/>
                        </a:lnSpc>
                        <a:buNone/>
                      </a:pPr>
                      <a:r>
                        <a:rPr lang="en-US" sz="1400" b="1" dirty="0">
                          <a:solidFill>
                            <a:srgbClr val="0E2233"/>
                          </a:solidFill>
                          <a:latin typeface="IBM Plex Sans" pitchFamily="34" charset="0"/>
                          <a:ea typeface="IBM Plex Sans" pitchFamily="34" charset="-122"/>
                          <a:cs typeface="IBM Plex Sans" pitchFamily="34" charset="-120"/>
                        </a:rPr>
                        <a:t>THOR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4"/>
                      </a:solidFill>
                      <a:prstDash val="solid"/>
                      <a:round/>
                      <a:headEnd type="none" w="med" len="med"/>
                      <a:tailEnd type="none" w="med" len="med"/>
                    </a:lnL>
                    <a:lnR w="12700" cap="flat" cmpd="sng" algn="ctr">
                      <a:solidFill>
                        <a:srgbClr val="B5B6B4"/>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6B4"/>
                      </a:solidFill>
                      <a:prstDash val="solid"/>
                      <a:round/>
                      <a:headEnd type="none" w="med" len="med"/>
                      <a:tailEnd type="none" w="med" len="med"/>
                    </a:lnB>
                    <a:solidFill>
                      <a:srgbClr val="E2E4E1"/>
                    </a:solidFill>
                  </a:tcPr>
                </a:tc>
              </a:tr>
              <a:tr h="384698">
                <a:tc>
                  <a:txBody>
                    <a:bodyPr/>
                    <a:lstStyle/>
                    <a:p>
                      <a:pPr indent="0" marL="0" algn="l">
                        <a:lnSpc>
                          <a:spcPts val="1960"/>
                        </a:lnSpc>
                        <a:buNone/>
                      </a:pPr>
                      <a:r>
                        <a:rPr lang="en-US" sz="1400" dirty="0">
                          <a:solidFill>
                            <a:srgbClr val="0E2233"/>
                          </a:solidFill>
                          <a:latin typeface="IBM Plex Sans" pitchFamily="34" charset="0"/>
                          <a:ea typeface="IBM Plex Sans" pitchFamily="34" charset="-122"/>
                          <a:cs typeface="IBM Plex Sans" pitchFamily="34" charset="-120"/>
                        </a:rPr>
                        <a:t>2019-04-29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267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476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0.74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0.89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gn="l">
                        <a:lnSpc>
                          <a:spcPts val="1960"/>
                        </a:lnSpc>
                        <a:buNone/>
                      </a:pPr>
                      <a:r>
                        <a:rPr lang="en-US" sz="1400" dirty="0">
                          <a:solidFill>
                            <a:srgbClr val="0E2233"/>
                          </a:solidFill>
                          <a:latin typeface="IBM Plex Sans" pitchFamily="34" charset="0"/>
                          <a:ea typeface="IBM Plex Sans" pitchFamily="34" charset="-122"/>
                          <a:cs typeface="IBM Plex Sans" pitchFamily="34" charset="-120"/>
                        </a:rPr>
                        <a:t>2019-04-23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150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278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0.82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gn="l">
                        <a:lnSpc>
                          <a:spcPts val="1960"/>
                        </a:lnSpc>
                        <a:buNone/>
                      </a:pPr>
                      <a:r>
                        <a:rPr lang="en-US" sz="1400" dirty="0">
                          <a:solidFill>
                            <a:srgbClr val="0E2233"/>
                          </a:solidFill>
                          <a:latin typeface="IBM Plex Sans" pitchFamily="34" charset="0"/>
                          <a:ea typeface="IBM Plex Sans" pitchFamily="34" charset="-122"/>
                          <a:cs typeface="IBM Plex Sans" pitchFamily="34" charset="-120"/>
                        </a:rPr>
                        <a:t>2019-04-24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0.82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gn="l">
                        <a:lnSpc>
                          <a:spcPts val="1960"/>
                        </a:lnSpc>
                        <a:buNone/>
                      </a:pPr>
                      <a:r>
                        <a:rPr lang="en-US" sz="1400" dirty="0">
                          <a:solidFill>
                            <a:srgbClr val="0E2233"/>
                          </a:solidFill>
                          <a:latin typeface="IBM Plex Sans" pitchFamily="34" charset="0"/>
                          <a:ea typeface="IBM Plex Sans" pitchFamily="34" charset="-122"/>
                          <a:cs typeface="IBM Plex Sans" pitchFamily="34" charset="-120"/>
                        </a:rPr>
                        <a:t>2019-04-17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0.61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6B4"/>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84698">
                <a:tc>
                  <a:txBody>
                    <a:bodyPr/>
                    <a:lstStyle/>
                    <a:p>
                      <a:pPr indent="0" marL="0" algn="l">
                        <a:lnSpc>
                          <a:spcPts val="1960"/>
                        </a:lnSpc>
                        <a:buNone/>
                      </a:pPr>
                      <a:r>
                        <a:rPr lang="en-US" sz="1400" dirty="0">
                          <a:solidFill>
                            <a:srgbClr val="0E2233"/>
                          </a:solidFill>
                          <a:latin typeface="IBM Plex Sans" pitchFamily="34" charset="0"/>
                          <a:ea typeface="IBM Plex Sans" pitchFamily="34" charset="-122"/>
                          <a:cs typeface="IBM Plex Sans" pitchFamily="34" charset="-120"/>
                        </a:rPr>
                        <a:t>Pooled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2"/>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512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926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0.74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c>
                  <a:txBody>
                    <a:bodyPr/>
                    <a:lstStyle/>
                    <a:p>
                      <a:pPr indent="0" marL="0" algn="r">
                        <a:lnSpc>
                          <a:spcPts val="1960"/>
                        </a:lnSpc>
                        <a:buNone/>
                      </a:pPr>
                      <a:r>
                        <a:rPr lang="en-US" sz="1400" dirty="0">
                          <a:solidFill>
                            <a:srgbClr val="0E2233"/>
                          </a:solidFill>
                          <a:latin typeface="IBM Plex Sans" pitchFamily="34" charset="0"/>
                          <a:ea typeface="IBM Plex Sans" pitchFamily="34" charset="-122"/>
                          <a:cs typeface="IBM Plex Sans" pitchFamily="34" charset="-120"/>
                        </a:rPr>
                        <a:t>0.84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B19E"/>
                      </a:solidFill>
                      <a:prstDash val="solid"/>
                      <a:round/>
                      <a:headEnd type="none" w="med" len="med"/>
                      <a:tailEnd type="none" w="med" len="med"/>
                    </a:lnL>
                    <a:lnR w="12700" cap="flat" cmpd="sng" algn="ctr">
                      <a:solidFill>
                        <a:srgbClr val="C7B19E"/>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7B19E"/>
                      </a:solidFill>
                      <a:prstDash val="solid"/>
                      <a:round/>
                      <a:headEnd type="none" w="med" len="med"/>
                      <a:tailEnd type="none" w="med" len="med"/>
                    </a:lnB>
                    <a:solidFill>
                      <a:srgbClr val="F9DDC5"/>
                    </a:solidFill>
                  </a:tcPr>
                </a:tc>
              </a:tr>
            </a:tbl>
          </a:graphicData>
        </a:graphic>
      </p:graphicFrame>
      <p:sp>
        <p:nvSpPr>
          <p:cNvPr id="5" name="Text 2"/>
          <p:cNvSpPr/>
          <p:nvPr/>
        </p:nvSpPr>
        <p:spPr>
          <a:xfrm>
            <a:off x="812782" y="4478664"/>
            <a:ext cx="10883429"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66A"/>
                </a:solidFill>
                <a:latin typeface="IBM Plex Sans" pitchFamily="34" charset="0"/>
                <a:ea typeface="IBM Plex Sans" pitchFamily="34" charset="-122"/>
                <a:cs typeface="IBM Plex Sans" pitchFamily="34" charset="-120"/>
              </a:rPr>
              <a:t>04-17 is low for both: 7 of its 46 bergs lie within 5 km of pack ice, where both detectors are filtered out. The first frame, 04-29, overstated the gap.</a:t>
            </a:r>
            <a:endParaRPr lang="en-US" sz="1600" dirty="0"/>
          </a:p>
        </p:txBody>
      </p:sp>
      <p:sp>
        <p:nvSpPr>
          <p:cNvPr id="6" name="Text 3"/>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7" name="Text 4"/>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CEE"/>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THE CONTENDERS</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Two ways to find a bright berg</a:t>
            </a:r>
            <a:endParaRPr lang="en-US" sz="3600" dirty="0"/>
          </a:p>
        </p:txBody>
      </p:sp>
      <p:sp>
        <p:nvSpPr>
          <p:cNvPr id="4" name="Shape 2"/>
          <p:cNvSpPr/>
          <p:nvPr/>
        </p:nvSpPr>
        <p:spPr>
          <a:xfrm>
            <a:off x="812782" y="1884611"/>
            <a:ext cx="5158563" cy="3957385"/>
          </a:xfrm>
          <a:prstGeom prst="roundRect">
            <a:avLst>
              <a:gd name="adj" fmla="val 2567"/>
            </a:avLst>
          </a:prstGeom>
          <a:solidFill>
            <a:srgbClr val="FBFCFA"/>
          </a:solidFill>
          <a:ln/>
        </p:spPr>
      </p:sp>
      <p:sp>
        <p:nvSpPr>
          <p:cNvPr id="5" name="Text 3"/>
          <p:cNvSpPr/>
          <p:nvPr/>
        </p:nvSpPr>
        <p:spPr>
          <a:xfrm>
            <a:off x="1117564"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CA-CFAR</a:t>
            </a:r>
            <a:endParaRPr lang="en-US" sz="2200" dirty="0"/>
          </a:p>
        </p:txBody>
      </p:sp>
      <p:sp>
        <p:nvSpPr>
          <p:cNvPr id="6" name="Text 4"/>
          <p:cNvSpPr/>
          <p:nvPr/>
        </p:nvSpPr>
        <p:spPr>
          <a:xfrm>
            <a:off x="1195796" y="2600883"/>
            <a:ext cx="4599617" cy="151855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No training:</a:t>
            </a:r>
            <a:r>
              <a:rPr lang="en-US" sz="1400" dirty="0">
                <a:solidFill>
                  <a:srgbClr val="46566A"/>
                </a:solidFill>
                <a:latin typeface="IBM Plex Sans" pitchFamily="34" charset="0"/>
                <a:ea typeface="IBM Plex Sans" pitchFamily="34" charset="-122"/>
                <a:cs typeface="IBM Plex Sans" pitchFamily="34" charset="-120"/>
              </a:rPr>
              <a:t> each pixel vs. its local background, on HV</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Threshold</a:t>
            </a:r>
            <a:r>
              <a:rPr lang="en-US" sz="1400" dirty="0">
                <a:solidFill>
                  <a:srgbClr val="46566A"/>
                </a:solidFill>
                <a:latin typeface="IBM Plex Sans" pitchFamily="34" charset="0"/>
                <a:ea typeface="IBM Plex Sans" pitchFamily="34" charset="-122"/>
                <a:cs typeface="IBM Plex Sans" pitchFamily="34" charset="-120"/>
              </a:rPr>
              <a:t> from a false-alarm rate and the scene's speckle</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Filters:</a:t>
            </a:r>
            <a:r>
              <a:rPr lang="en-US" sz="1400" dirty="0">
                <a:solidFill>
                  <a:srgbClr val="46566A"/>
                </a:solidFill>
                <a:latin typeface="IBM Plex Sans" pitchFamily="34" charset="0"/>
                <a:ea typeface="IBM Plex Sans" pitchFamily="34" charset="-122"/>
                <a:cs typeface="IBM Plex Sans" pitchFamily="34" charset="-120"/>
              </a:rPr>
              <a:t> size, ice strips up to 300 m, HH co-pol check</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CPU:</a:t>
            </a:r>
            <a:r>
              <a:rPr lang="en-US" sz="1400" dirty="0">
                <a:solidFill>
                  <a:srgbClr val="46566A"/>
                </a:solidFill>
                <a:latin typeface="IBM Plex Sans" pitchFamily="34" charset="0"/>
                <a:ea typeface="IBM Plex Sans" pitchFamily="34" charset="-122"/>
                <a:cs typeface="IBM Plex Sans" pitchFamily="34" charset="-120"/>
              </a:rPr>
              <a:t> a full 8-PFA sweep takes about 6 min per scene</a:t>
            </a:r>
            <a:endParaRPr lang="en-US" sz="1400" dirty="0"/>
          </a:p>
        </p:txBody>
      </p:sp>
      <p:sp>
        <p:nvSpPr>
          <p:cNvPr id="7" name="Shape 5"/>
          <p:cNvSpPr/>
          <p:nvPr/>
        </p:nvSpPr>
        <p:spPr>
          <a:xfrm>
            <a:off x="6174473" y="1884611"/>
            <a:ext cx="5204745" cy="3957385"/>
          </a:xfrm>
          <a:prstGeom prst="roundRect">
            <a:avLst>
              <a:gd name="adj" fmla="val 2567"/>
            </a:avLst>
          </a:prstGeom>
          <a:solidFill>
            <a:srgbClr val="FBFCFA"/>
          </a:solidFill>
          <a:ln/>
        </p:spPr>
      </p:sp>
      <p:sp>
        <p:nvSpPr>
          <p:cNvPr id="8" name="Shape 6"/>
          <p:cNvSpPr/>
          <p:nvPr/>
        </p:nvSpPr>
        <p:spPr>
          <a:xfrm>
            <a:off x="6174473" y="1884611"/>
            <a:ext cx="5204745" cy="3957385"/>
          </a:xfrm>
          <a:custGeom>
            <a:avLst/>
            <a:gdLst/>
            <a:ahLst/>
            <a:cxnLst/>
            <a:rect l="l" t="t" r="r" b="b"/>
            <a:pathLst>
              <a:path w="5204745" h="3957385">
                <a:moveTo>
                  <a:pt x="101600" y="3957385"/>
                </a:moveTo>
                <a:lnTo>
                  <a:pt x="101600" y="3957385"/>
                </a:lnTo>
                <a:arcTo hR="101600" wR="101600" stAng="5400000" swAng="5400000"/>
                <a:lnTo>
                  <a:pt x="0" y="101600"/>
                </a:lnTo>
                <a:arcTo hR="101600" wR="101600" stAng="10800000" swAng="5400000"/>
                <a:lnTo>
                  <a:pt x="101600" y="0"/>
                </a:lnTo>
                <a:arcTo hR="101600" wR="50800" stAng="16200000" swAng="-5400000"/>
                <a:lnTo>
                  <a:pt x="50800" y="3855785"/>
                </a:lnTo>
                <a:arcTo hR="101600" wR="50800" stAng="10800000" swAng="-5400000"/>
                <a:close/>
              </a:path>
            </a:pathLst>
          </a:custGeom>
          <a:solidFill>
            <a:srgbClr val="A84B1A"/>
          </a:solidFill>
          <a:ln/>
        </p:spPr>
      </p:sp>
      <p:sp>
        <p:nvSpPr>
          <p:cNvPr id="9" name="Text 7"/>
          <p:cNvSpPr/>
          <p:nvPr/>
        </p:nvSpPr>
        <p:spPr>
          <a:xfrm>
            <a:off x="6525437"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THOR + linear head</a:t>
            </a:r>
            <a:endParaRPr lang="en-US" sz="2200" dirty="0"/>
          </a:p>
        </p:txBody>
      </p:sp>
      <p:sp>
        <p:nvSpPr>
          <p:cNvPr id="10" name="Text 8"/>
          <p:cNvSpPr/>
          <p:nvPr/>
        </p:nvSpPr>
        <p:spPr>
          <a:xfrm>
            <a:off x="6603669" y="2600883"/>
            <a:ext cx="4599617" cy="176741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Frozen encoder:</a:t>
            </a:r>
            <a:r>
              <a:rPr lang="en-US" sz="1400" dirty="0">
                <a:solidFill>
                  <a:srgbClr val="46566A"/>
                </a:solidFill>
                <a:latin typeface="IBM Plex Sans" pitchFamily="34" charset="0"/>
                <a:ea typeface="IBM Plex Sans" pitchFamily="34" charset="-122"/>
                <a:cs typeface="IBM Plex Sans" pitchFamily="34" charset="-120"/>
              </a:rPr>
              <a:t> THOR Tiny (FM4CS), pretrained on Sentinel-1</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769-parameter head</a:t>
            </a:r>
            <a:r>
              <a:rPr lang="en-US" sz="1400" dirty="0">
                <a:solidFill>
                  <a:srgbClr val="46566A"/>
                </a:solidFill>
                <a:latin typeface="IBM Plex Sans" pitchFamily="34" charset="0"/>
                <a:ea typeface="IBM Plex Sans" pitchFamily="34" charset="-122"/>
                <a:cs typeface="IBM Plex Sans" pitchFamily="34" charset="-120"/>
              </a:rPr>
              <a:t> trained on IIP labels, 2019–2020</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Input:</a:t>
            </a:r>
            <a:r>
              <a:rPr lang="en-US" sz="1400" dirty="0">
                <a:solidFill>
                  <a:srgbClr val="46566A"/>
                </a:solidFill>
                <a:latin typeface="IBM Plex Sans" pitchFamily="34" charset="0"/>
                <a:ea typeface="IBM Plex Sans" pitchFamily="34" charset="-122"/>
                <a:cs typeface="IBM Plex Sans" pitchFamily="34" charset="-120"/>
              </a:rPr>
              <a:t> HH/HV sigma0 in dB, 80 m patches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GPU:</a:t>
            </a:r>
            <a:r>
              <a:rPr lang="en-US" sz="1400" dirty="0">
                <a:solidFill>
                  <a:srgbClr val="46566A"/>
                </a:solidFill>
                <a:latin typeface="IBM Plex Sans" pitchFamily="34" charset="0"/>
                <a:ea typeface="IBM Plex Sans" pitchFamily="34" charset="-122"/>
                <a:cs typeface="IBM Plex Sans" pitchFamily="34" charset="-120"/>
              </a:rPr>
              <a:t> 8–15 min per scene on a laptop RTX 3070</a:t>
            </a:r>
            <a:endParaRPr lang="en-US" sz="1400" dirty="0"/>
          </a:p>
        </p:txBody>
      </p:sp>
      <p:sp>
        <p:nvSpPr>
          <p:cNvPr id="11" name="Text 9"/>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12" name="Text 10"/>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233"/>
        </a:solidFill>
      </p:bgPr>
    </p:bg>
    <p:spTree>
      <p:nvGrpSpPr>
        <p:cNvPr id="1" name=""/>
        <p:cNvGrpSpPr/>
        <p:nvPr/>
      </p:nvGrpSpPr>
      <p:grpSpPr>
        <a:xfrm>
          <a:off x="0" y="0"/>
          <a:ext cx="0" cy="0"/>
          <a:chOff x="0" y="0"/>
          <a:chExt cx="0" cy="0"/>
        </a:xfrm>
      </p:grpSpPr>
      <p:sp>
        <p:nvSpPr>
          <p:cNvPr id="2" name="Text 0"/>
          <p:cNvSpPr/>
          <p:nvPr/>
        </p:nvSpPr>
        <p:spPr>
          <a:xfrm>
            <a:off x="812782" y="2029383"/>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766"/>
                </a:solidFill>
                <a:latin typeface="IBM Plex Sans" pitchFamily="34" charset="0"/>
                <a:ea typeface="IBM Plex Sans" pitchFamily="34" charset="-122"/>
                <a:cs typeface="IBM Plex Sans" pitchFamily="34" charset="-120"/>
              </a:rPr>
              <a:t>THANK YOU</a:t>
            </a:r>
            <a:endParaRPr lang="en-US" sz="1200" dirty="0"/>
          </a:p>
        </p:txBody>
      </p:sp>
      <p:sp>
        <p:nvSpPr>
          <p:cNvPr id="3" name="Text 1"/>
          <p:cNvSpPr/>
          <p:nvPr>
            <p:ph type="title"/>
          </p:nvPr>
        </p:nvSpPr>
        <p:spPr>
          <a:xfrm>
            <a:off x="812782" y="2496790"/>
            <a:ext cx="10883429" cy="825464"/>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6F3"/>
                </a:solidFill>
                <a:latin typeface="Source Serif 4" pitchFamily="18" charset="0"/>
                <a:ea typeface="Source Serif 4" pitchFamily="18" charset="-122"/>
                <a:cs typeface="Source Serif 4" pitchFamily="18" charset="-120"/>
              </a:rPr>
              <a:t>Questions?</a:t>
            </a:r>
            <a:endParaRPr lang="en-US" sz="6000" dirty="0"/>
          </a:p>
        </p:txBody>
      </p:sp>
      <p:sp>
        <p:nvSpPr>
          <p:cNvPr id="4" name="Text 2"/>
          <p:cNvSpPr/>
          <p:nvPr/>
        </p:nvSpPr>
        <p:spPr>
          <a:xfrm>
            <a:off x="812782" y="3550853"/>
            <a:ext cx="10883429" cy="38863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3DB"/>
                </a:solidFill>
                <a:latin typeface="IBM Plex Sans" pitchFamily="34" charset="0"/>
                <a:ea typeface="IBM Plex Sans" pitchFamily="34" charset="-122"/>
                <a:cs typeface="IBM Plex Sans" pitchFamily="34" charset="-120"/>
              </a:rPr>
              <a:t>Natali Kovalski · </a:t>
            </a:r>
            <a:r>
              <a:rPr lang="en-US" sz="2200" u="sng" dirty="0">
                <a:solidFill>
                  <a:srgbClr val="F2A76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github.com/natali-kovalski/iceberg-alley-sar</a:t>
            </a:r>
            <a:endParaRPr lang="en-US" sz="2200" dirty="0"/>
          </a:p>
        </p:txBody>
      </p:sp>
      <p:sp>
        <p:nvSpPr>
          <p:cNvPr id="5" name="Text 3"/>
          <p:cNvSpPr/>
          <p:nvPr/>
        </p:nvSpPr>
        <p:spPr>
          <a:xfrm>
            <a:off x="812782" y="4168087"/>
            <a:ext cx="9810750" cy="48270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B4BE"/>
                </a:solidFill>
                <a:latin typeface="IBM Plex Sans" pitchFamily="34" charset="0"/>
                <a:ea typeface="IBM Plex Sans" pitchFamily="34" charset="-122"/>
                <a:cs typeface="IBM Plex Sans" pitchFamily="34" charset="-120"/>
              </a:rPr>
              <a:t>Live viewer with both detectors: natali-kovalski.github.io/iceberg-alley-sar. Write-up: docs/thor-vs-cfar.md. Contains modified Copernicus Sentinel data (2019–2026). Labels: International Ice Patrol (NSIDC G00807). THOR: FM4CS (Apache 2.0); Forgaard et al., IGARSS 2026.</a:t>
            </a:r>
            <a:endParaRPr lang="en-US" sz="12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4ECEE"/>
        </a:solidFill>
      </p:bgPr>
    </p:bg>
    <p:spTree>
      <p:nvGrpSpPr>
        <p:cNvPr id="1" name=""/>
        <p:cNvGrpSpPr/>
        <p:nvPr/>
      </p:nvGrpSpPr>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B1A"/>
                </a:solidFill>
                <a:latin typeface="IBM Plex Sans" pitchFamily="34" charset="0"/>
                <a:ea typeface="IBM Plex Sans" pitchFamily="34" charset="-122"/>
                <a:cs typeface="IBM Plex Sans" pitchFamily="34" charset="-120"/>
              </a:rPr>
              <a:t>VERDICT</a:t>
            </a:r>
            <a:endParaRPr lang="en-US" sz="1200" dirty="0"/>
          </a:p>
        </p:txBody>
      </p:sp>
      <p:sp>
        <p:nvSpPr>
          <p:cNvPr id="3" name="Text 1"/>
          <p:cNvSpPr/>
          <p:nvPr>
            <p:ph type="title"/>
          </p:nvPr>
        </p:nvSpPr>
        <p:spPr>
          <a:xfrm>
            <a:off x="812782" y="1127751"/>
            <a:ext cx="10883429" cy="52825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233"/>
                </a:solidFill>
                <a:latin typeface="Source Serif 4" pitchFamily="18" charset="0"/>
                <a:ea typeface="Source Serif 4" pitchFamily="18" charset="-122"/>
                <a:cs typeface="Source Serif 4" pitchFamily="18" charset="-120"/>
              </a:rPr>
              <a:t>THOR on top of the CFAR pipeline</a:t>
            </a:r>
            <a:endParaRPr lang="en-US" sz="3600" dirty="0"/>
          </a:p>
        </p:txBody>
      </p:sp>
      <p:sp>
        <p:nvSpPr>
          <p:cNvPr id="4" name="Shape 2"/>
          <p:cNvSpPr/>
          <p:nvPr/>
        </p:nvSpPr>
        <p:spPr>
          <a:xfrm>
            <a:off x="812782" y="1884611"/>
            <a:ext cx="5158563" cy="3957385"/>
          </a:xfrm>
          <a:prstGeom prst="roundRect">
            <a:avLst>
              <a:gd name="adj" fmla="val 2567"/>
            </a:avLst>
          </a:prstGeom>
          <a:solidFill>
            <a:srgbClr val="FBFCFA"/>
          </a:solidFill>
          <a:ln/>
        </p:spPr>
      </p:sp>
      <p:sp>
        <p:nvSpPr>
          <p:cNvPr id="5" name="Text 3"/>
          <p:cNvSpPr/>
          <p:nvPr/>
        </p:nvSpPr>
        <p:spPr>
          <a:xfrm>
            <a:off x="1117564"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What holds</a:t>
            </a:r>
            <a:endParaRPr lang="en-US" sz="2200" dirty="0"/>
          </a:p>
        </p:txBody>
      </p:sp>
      <p:sp>
        <p:nvSpPr>
          <p:cNvPr id="6" name="Text 4"/>
          <p:cNvSpPr/>
          <p:nvPr/>
        </p:nvSpPr>
        <p:spPr>
          <a:xfrm>
            <a:off x="1195796" y="2600883"/>
            <a:ext cx="4599617" cy="151855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+10 points recall</a:t>
            </a:r>
            <a:r>
              <a:rPr lang="en-US" sz="1400" dirty="0">
                <a:solidFill>
                  <a:srgbClr val="46566A"/>
                </a:solidFill>
                <a:latin typeface="IBM Plex Sans" pitchFamily="34" charset="0"/>
                <a:ea typeface="IBM Plex Sans" pitchFamily="34" charset="-122"/>
                <a:cs typeface="IBM Plex Sans" pitchFamily="34" charset="-120"/>
              </a:rPr>
              <a:t> at an equal number of detections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Large bergs:</a:t>
            </a:r>
            <a:r>
              <a:rPr lang="en-US" sz="1400" dirty="0">
                <a:solidFill>
                  <a:srgbClr val="46566A"/>
                </a:solidFill>
                <a:latin typeface="IBM Plex Sans" pitchFamily="34" charset="0"/>
                <a:ea typeface="IBM Plex Sans" pitchFamily="34" charset="-122"/>
                <a:cs typeface="IBM Plex Sans" pitchFamily="34" charset="-120"/>
              </a:rPr>
              <a:t> 11 of 14 found, CFAR 4</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Needs the pipeline:</a:t>
            </a:r>
            <a:r>
              <a:rPr lang="en-US" sz="1400" dirty="0">
                <a:solidFill>
                  <a:srgbClr val="46566A"/>
                </a:solidFill>
                <a:latin typeface="IBM Plex Sans" pitchFamily="34" charset="0"/>
                <a:ea typeface="IBM Plex Sans" pitchFamily="34" charset="-122"/>
                <a:cs typeface="IBM Plex Sans" pitchFamily="34" charset="-120"/>
              </a:rPr>
              <a:t> its pack-ice mask, and a GPU</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Caveat:</a:t>
            </a:r>
            <a:r>
              <a:rPr lang="en-US" sz="1400" dirty="0">
                <a:solidFill>
                  <a:srgbClr val="46566A"/>
                </a:solidFill>
                <a:latin typeface="IBM Plex Sans" pitchFamily="34" charset="0"/>
                <a:ea typeface="IBM Plex Sans" pitchFamily="34" charset="-122"/>
                <a:cs typeface="IBM Plex Sans" pitchFamily="34" charset="-120"/>
              </a:rPr>
              <a:t> one month of one year; THOR learned the analysts' labels</a:t>
            </a:r>
            <a:endParaRPr lang="en-US" sz="1400" dirty="0"/>
          </a:p>
        </p:txBody>
      </p:sp>
      <p:sp>
        <p:nvSpPr>
          <p:cNvPr id="7" name="Shape 5"/>
          <p:cNvSpPr/>
          <p:nvPr/>
        </p:nvSpPr>
        <p:spPr>
          <a:xfrm>
            <a:off x="6174473" y="1884611"/>
            <a:ext cx="5204745" cy="3957385"/>
          </a:xfrm>
          <a:prstGeom prst="roundRect">
            <a:avLst>
              <a:gd name="adj" fmla="val 2567"/>
            </a:avLst>
          </a:prstGeom>
          <a:solidFill>
            <a:srgbClr val="FBFCFA"/>
          </a:solidFill>
          <a:ln/>
        </p:spPr>
      </p:sp>
      <p:sp>
        <p:nvSpPr>
          <p:cNvPr id="8" name="Shape 6"/>
          <p:cNvSpPr/>
          <p:nvPr/>
        </p:nvSpPr>
        <p:spPr>
          <a:xfrm>
            <a:off x="6174473" y="1884611"/>
            <a:ext cx="5204745" cy="3957385"/>
          </a:xfrm>
          <a:custGeom>
            <a:avLst/>
            <a:gdLst/>
            <a:ahLst/>
            <a:cxnLst/>
            <a:rect l="l" t="t" r="r" b="b"/>
            <a:pathLst>
              <a:path w="5204745" h="3957385">
                <a:moveTo>
                  <a:pt x="101600" y="3957385"/>
                </a:moveTo>
                <a:lnTo>
                  <a:pt x="101600" y="3957385"/>
                </a:lnTo>
                <a:arcTo hR="101600" wR="101600" stAng="5400000" swAng="5400000"/>
                <a:lnTo>
                  <a:pt x="0" y="101600"/>
                </a:lnTo>
                <a:arcTo hR="101600" wR="101600" stAng="10800000" swAng="5400000"/>
                <a:lnTo>
                  <a:pt x="101600" y="0"/>
                </a:lnTo>
                <a:arcTo hR="101600" wR="50800" stAng="16200000" swAng="-5400000"/>
                <a:lnTo>
                  <a:pt x="50800" y="3855785"/>
                </a:lnTo>
                <a:arcTo hR="101600" wR="50800" stAng="10800000" swAng="-5400000"/>
                <a:close/>
              </a:path>
            </a:pathLst>
          </a:custGeom>
          <a:solidFill>
            <a:srgbClr val="A84B1A"/>
          </a:solidFill>
          <a:ln/>
        </p:spPr>
      </p:sp>
      <p:sp>
        <p:nvSpPr>
          <p:cNvPr id="9" name="Text 7"/>
          <p:cNvSpPr/>
          <p:nvPr/>
        </p:nvSpPr>
        <p:spPr>
          <a:xfrm>
            <a:off x="6525437" y="2138611"/>
            <a:ext cx="4685469" cy="36066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2233"/>
                </a:solidFill>
                <a:latin typeface="Source Serif 4" pitchFamily="18" charset="0"/>
                <a:ea typeface="Source Serif 4" pitchFamily="18" charset="-122"/>
                <a:cs typeface="Source Serif 4" pitchFamily="18" charset="-120"/>
              </a:rPr>
              <a:t>Next</a:t>
            </a:r>
            <a:endParaRPr lang="en-US" sz="2200" dirty="0"/>
          </a:p>
        </p:txBody>
      </p:sp>
      <p:sp>
        <p:nvSpPr>
          <p:cNvPr id="10" name="Text 8"/>
          <p:cNvSpPr/>
          <p:nvPr/>
        </p:nvSpPr>
        <p:spPr>
          <a:xfrm>
            <a:off x="6603669" y="2600883"/>
            <a:ext cx="4599617" cy="176741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AIS for the test frames</a:t>
            </a:r>
            <a:r>
              <a:rPr lang="en-US" sz="1400" dirty="0">
                <a:solidFill>
                  <a:srgbClr val="46566A"/>
                </a:solidFill>
                <a:latin typeface="IBM Plex Sans" pitchFamily="34" charset="0"/>
                <a:ea typeface="IBM Plex Sans" pitchFamily="34" charset="-122"/>
                <a:cs typeface="IBM Plex Sans" pitchFamily="34" charset="-120"/>
              </a:rPr>
              <a:t> to measure precision for both</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Shape-based strip test</a:t>
            </a:r>
            <a:r>
              <a:rPr lang="en-US" sz="1400" dirty="0">
                <a:solidFill>
                  <a:srgbClr val="46566A"/>
                </a:solidFill>
                <a:latin typeface="IBM Plex Sans" pitchFamily="34" charset="0"/>
                <a:ea typeface="IBM Plex Sans" pitchFamily="34" charset="-122"/>
                <a:cs typeface="IBM Plex Sans" pitchFamily="34" charset="-120"/>
              </a:rPr>
              <a:t> so the CFAR keeps large bergs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THOR at 4×4 patches</a:t>
            </a:r>
            <a:r>
              <a:rPr lang="en-US" sz="1400" dirty="0">
                <a:solidFill>
                  <a:srgbClr val="46566A"/>
                </a:solidFill>
                <a:latin typeface="IBM Plex Sans" pitchFamily="34" charset="0"/>
                <a:ea typeface="IBM Plex Sans" pitchFamily="34" charset="-122"/>
                <a:cs typeface="IBM Plex Sans" pitchFamily="34" charset="-120"/>
              </a:rPr>
              <a:t> for small bergs</a:t>
            </a:r>
            <a:endParaRPr lang="en-US" sz="1400" dirty="0"/>
          </a:p>
          <a:p>
            <a:pPr algn="l" marL="175768" indent="-175768">
              <a:lnSpc>
                <a:spcPts val="1960"/>
              </a:lnSpc>
              <a:buSzPct val="100000"/>
              <a:buChar char="•"/>
            </a:pPr>
            <a:r>
              <a:rPr lang="en-US" sz="1400" b="1" dirty="0">
                <a:solidFill>
                  <a:srgbClr val="46566A"/>
                </a:solidFill>
                <a:latin typeface="IBM Plex Sans" pitchFamily="34" charset="0"/>
                <a:ea typeface="IBM Plex Sans" pitchFamily="34" charset="-122"/>
                <a:cs typeface="IBM Plex Sans" pitchFamily="34" charset="-120"/>
              </a:rPr>
              <a:t>More years</a:t>
            </a:r>
            <a:r>
              <a:rPr lang="en-US" sz="1400" dirty="0">
                <a:solidFill>
                  <a:srgbClr val="46566A"/>
                </a:solidFill>
                <a:latin typeface="IBM Plex Sans" pitchFamily="34" charset="0"/>
                <a:ea typeface="IBM Plex Sans" pitchFamily="34" charset="-122"/>
                <a:cs typeface="IBM Plex Sans" pitchFamily="34" charset="-120"/>
              </a:rPr>
              <a:t> and near-range frames</a:t>
            </a:r>
            <a:endParaRPr lang="en-US" sz="1400" dirty="0"/>
          </a:p>
        </p:txBody>
      </p:sp>
      <p:sp>
        <p:nvSpPr>
          <p:cNvPr id="11" name="Text 9"/>
          <p:cNvSpPr/>
          <p:nvPr/>
        </p:nvSpPr>
        <p:spPr>
          <a:xfrm>
            <a:off x="812782" y="6238242"/>
            <a:ext cx="411480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CA-CFAR vs. THOR · Brief</a:t>
            </a:r>
            <a:endParaRPr lang="en-US" sz="1200" dirty="0"/>
          </a:p>
        </p:txBody>
      </p:sp>
      <p:sp>
        <p:nvSpPr>
          <p:cNvPr id="12" name="Text 10"/>
          <p:cNvSpPr/>
          <p:nvPr/>
        </p:nvSpPr>
        <p:spPr>
          <a:xfrm>
            <a:off x="11237976" y="6238242"/>
            <a:ext cx="146304"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97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theme/theme1.xml><?xml version="1.0" encoding="utf-8"?>
<a:theme xmlns:a="http://schemas.openxmlformats.org/drawingml/2006/main" name="Iceberg Alley SAR — Project Brief">
  <a:themeElements>
    <a:clrScheme name="Iceberg Alley SAR — Project Brief">
      <a:dk1>
        <a:srgbClr val="0E2233"/>
      </a:dk1>
      <a:lt1>
        <a:srgbClr val="F4F6F3"/>
      </a:lt1>
      <a:dk2>
        <a:srgbClr val="485763"/>
      </a:dk2>
      <a:lt2>
        <a:srgbClr val="DDE1E0"/>
      </a:lt2>
      <a:accent1>
        <a:srgbClr val="A84B1A"/>
      </a:accent1>
      <a:accent2>
        <a:srgbClr val="F2A766"/>
      </a:accent2>
      <a:accent3>
        <a:srgbClr val="46566A"/>
      </a:accent3>
      <a:accent4>
        <a:srgbClr val="5A6978"/>
      </a:accent4>
      <a:accent5>
        <a:srgbClr val="BFD3DB"/>
      </a:accent5>
      <a:accent6>
        <a:srgbClr val="2A3A4A"/>
      </a:accent6>
      <a:hlink>
        <a:srgbClr val="0563C1"/>
      </a:hlink>
      <a:folHlink>
        <a:srgbClr val="954F72"/>
      </a:folHlink>
    </a:clrScheme>
    <a:fontScheme name="Iceberg Alley SAR — Project Brief">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CA-CFAR vs. THOR</dc:title>
  <dc:subject/>
  <dc:creator/>
  <cp:lastModifiedBy/>
  <cp:revision>1</cp:revision>
  <dcterms:created xsi:type="dcterms:W3CDTF">2026-10-06T13:59:26Z</dcterms:created>
  <dcterms:modified xsi:type="dcterms:W3CDTF">2026-10-06T13:59:26Z</dcterms:modified>
</cp:coreProperties>
</file>